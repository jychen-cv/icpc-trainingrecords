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3" autoAdjust="0"/>
    <p:restoredTop sz="95368" autoAdjust="0"/>
  </p:normalViewPr>
  <p:slideViewPr>
    <p:cSldViewPr snapToGrid="0">
      <p:cViewPr varScale="1">
        <p:scale>
          <a:sx n="77" d="100"/>
          <a:sy n="77" d="100"/>
        </p:scale>
        <p:origin x="76" y="2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en livio" userId="189b3cb06c1c9117" providerId="LiveId" clId="{7746D3FD-364F-4D55-9CB8-8D61F29F559E}"/>
    <pc:docChg chg="undo custSel addSld delSld modSld">
      <pc:chgData name="stephen livio" userId="189b3cb06c1c9117" providerId="LiveId" clId="{7746D3FD-364F-4D55-9CB8-8D61F29F559E}" dt="2023-01-04T02:42:06.279" v="665"/>
      <pc:docMkLst>
        <pc:docMk/>
      </pc:docMkLst>
      <pc:sldChg chg="modSp mod">
        <pc:chgData name="stephen livio" userId="189b3cb06c1c9117" providerId="LiveId" clId="{7746D3FD-364F-4D55-9CB8-8D61F29F559E}" dt="2023-01-03T13:40:25.944" v="609"/>
        <pc:sldMkLst>
          <pc:docMk/>
          <pc:sldMk cId="3526757434" sldId="260"/>
        </pc:sldMkLst>
        <pc:spChg chg="mod">
          <ac:chgData name="stephen livio" userId="189b3cb06c1c9117" providerId="LiveId" clId="{7746D3FD-364F-4D55-9CB8-8D61F29F559E}" dt="2023-01-03T13:40:25.944" v="609"/>
          <ac:spMkLst>
            <pc:docMk/>
            <pc:sldMk cId="3526757434" sldId="260"/>
            <ac:spMk id="5" creationId="{AD60152A-9C3F-4CE8-A443-CD3F5A30D2D0}"/>
          </ac:spMkLst>
        </pc:spChg>
      </pc:sldChg>
      <pc:sldChg chg="modSp mod">
        <pc:chgData name="stephen livio" userId="189b3cb06c1c9117" providerId="LiveId" clId="{7746D3FD-364F-4D55-9CB8-8D61F29F559E}" dt="2023-01-03T10:55:23.990" v="37" actId="255"/>
        <pc:sldMkLst>
          <pc:docMk/>
          <pc:sldMk cId="1600114669" sldId="263"/>
        </pc:sldMkLst>
        <pc:spChg chg="mod">
          <ac:chgData name="stephen livio" userId="189b3cb06c1c9117" providerId="LiveId" clId="{7746D3FD-364F-4D55-9CB8-8D61F29F559E}" dt="2023-01-03T10:55:23.990" v="37" actId="255"/>
          <ac:spMkLst>
            <pc:docMk/>
            <pc:sldMk cId="1600114669" sldId="263"/>
            <ac:spMk id="3" creationId="{A11DD20A-2AA5-4D30-A081-6F8743C67C4F}"/>
          </ac:spMkLst>
        </pc:spChg>
      </pc:sldChg>
      <pc:sldChg chg="addSp modSp mod">
        <pc:chgData name="stephen livio" userId="189b3cb06c1c9117" providerId="LiveId" clId="{7746D3FD-364F-4D55-9CB8-8D61F29F559E}" dt="2023-01-03T12:19:12.962" v="425" actId="20577"/>
        <pc:sldMkLst>
          <pc:docMk/>
          <pc:sldMk cId="1495862004" sldId="267"/>
        </pc:sldMkLst>
        <pc:spChg chg="add mod">
          <ac:chgData name="stephen livio" userId="189b3cb06c1c9117" providerId="LiveId" clId="{7746D3FD-364F-4D55-9CB8-8D61F29F559E}" dt="2023-01-03T12:19:12.962" v="425" actId="20577"/>
          <ac:spMkLst>
            <pc:docMk/>
            <pc:sldMk cId="1495862004" sldId="267"/>
            <ac:spMk id="4" creationId="{29EDFA1B-6D51-4E99-ABAC-9B41AC0B11F2}"/>
          </ac:spMkLst>
        </pc:spChg>
        <pc:spChg chg="mod">
          <ac:chgData name="stephen livio" userId="189b3cb06c1c9117" providerId="LiveId" clId="{7746D3FD-364F-4D55-9CB8-8D61F29F559E}" dt="2023-01-03T12:18:38.023" v="397" actId="20577"/>
          <ac:spMkLst>
            <pc:docMk/>
            <pc:sldMk cId="1495862004" sldId="267"/>
            <ac:spMk id="5" creationId="{71F61049-3221-485D-9B92-7EFF1E7DA292}"/>
          </ac:spMkLst>
        </pc:spChg>
      </pc:sldChg>
      <pc:sldChg chg="addSp delSp modSp new mod modClrScheme chgLayout">
        <pc:chgData name="stephen livio" userId="189b3cb06c1c9117" providerId="LiveId" clId="{7746D3FD-364F-4D55-9CB8-8D61F29F559E}" dt="2023-01-03T11:47:50.873" v="103" actId="20577"/>
        <pc:sldMkLst>
          <pc:docMk/>
          <pc:sldMk cId="1196086242" sldId="268"/>
        </pc:sldMkLst>
        <pc:spChg chg="add del">
          <ac:chgData name="stephen livio" userId="189b3cb06c1c9117" providerId="LiveId" clId="{7746D3FD-364F-4D55-9CB8-8D61F29F559E}" dt="2023-01-03T11:39:03.659" v="39" actId="22"/>
          <ac:spMkLst>
            <pc:docMk/>
            <pc:sldMk cId="1196086242" sldId="268"/>
            <ac:spMk id="3" creationId="{F8C6840D-1410-4E46-8330-C577CE3A0F0B}"/>
          </ac:spMkLst>
        </pc:spChg>
        <pc:spChg chg="add mod">
          <ac:chgData name="stephen livio" userId="189b3cb06c1c9117" providerId="LiveId" clId="{7746D3FD-364F-4D55-9CB8-8D61F29F559E}" dt="2023-01-03T11:39:23.290" v="47" actId="27636"/>
          <ac:spMkLst>
            <pc:docMk/>
            <pc:sldMk cId="1196086242" sldId="268"/>
            <ac:spMk id="4" creationId="{4F0D1886-EFBD-4F17-91D1-8C67D88D6A99}"/>
          </ac:spMkLst>
        </pc:spChg>
        <pc:spChg chg="add mod">
          <ac:chgData name="stephen livio" userId="189b3cb06c1c9117" providerId="LiveId" clId="{7746D3FD-364F-4D55-9CB8-8D61F29F559E}" dt="2023-01-03T11:47:50.873" v="103" actId="20577"/>
          <ac:spMkLst>
            <pc:docMk/>
            <pc:sldMk cId="1196086242" sldId="268"/>
            <ac:spMk id="5" creationId="{84F43984-3515-4671-BF96-63EE71367E75}"/>
          </ac:spMkLst>
        </pc:spChg>
      </pc:sldChg>
      <pc:sldChg chg="addSp modSp new mod">
        <pc:chgData name="stephen livio" userId="189b3cb06c1c9117" providerId="LiveId" clId="{7746D3FD-364F-4D55-9CB8-8D61F29F559E}" dt="2023-01-03T10:53:16.098" v="36" actId="20577"/>
        <pc:sldMkLst>
          <pc:docMk/>
          <pc:sldMk cId="3808252718" sldId="269"/>
        </pc:sldMkLst>
        <pc:spChg chg="add mod">
          <ac:chgData name="stephen livio" userId="189b3cb06c1c9117" providerId="LiveId" clId="{7746D3FD-364F-4D55-9CB8-8D61F29F559E}" dt="2023-01-03T10:53:16.098" v="36" actId="20577"/>
          <ac:spMkLst>
            <pc:docMk/>
            <pc:sldMk cId="3808252718" sldId="269"/>
            <ac:spMk id="3" creationId="{72E4950C-BD1B-4801-83E6-E432E8E24F5D}"/>
          </ac:spMkLst>
        </pc:spChg>
      </pc:sldChg>
      <pc:sldChg chg="modSp new mod">
        <pc:chgData name="stephen livio" userId="189b3cb06c1c9117" providerId="LiveId" clId="{7746D3FD-364F-4D55-9CB8-8D61F29F559E}" dt="2023-01-03T11:46:39.113" v="102" actId="20577"/>
        <pc:sldMkLst>
          <pc:docMk/>
          <pc:sldMk cId="3135634659" sldId="270"/>
        </pc:sldMkLst>
        <pc:spChg chg="mod">
          <ac:chgData name="stephen livio" userId="189b3cb06c1c9117" providerId="LiveId" clId="{7746D3FD-364F-4D55-9CB8-8D61F29F559E}" dt="2023-01-03T11:46:39.113" v="102" actId="20577"/>
          <ac:spMkLst>
            <pc:docMk/>
            <pc:sldMk cId="3135634659" sldId="270"/>
            <ac:spMk id="3" creationId="{24E73115-9BF1-402E-9A41-0E1E24158024}"/>
          </ac:spMkLst>
        </pc:spChg>
      </pc:sldChg>
      <pc:sldChg chg="addSp delSp modSp new mod modClrScheme chgLayout">
        <pc:chgData name="stephen livio" userId="189b3cb06c1c9117" providerId="LiveId" clId="{7746D3FD-364F-4D55-9CB8-8D61F29F559E}" dt="2023-01-04T01:07:28.640" v="612" actId="6549"/>
        <pc:sldMkLst>
          <pc:docMk/>
          <pc:sldMk cId="2380255443" sldId="271"/>
        </pc:sldMkLst>
        <pc:spChg chg="del">
          <ac:chgData name="stephen livio" userId="189b3cb06c1c9117" providerId="LiveId" clId="{7746D3FD-364F-4D55-9CB8-8D61F29F559E}" dt="2023-01-03T11:48:29.385" v="113" actId="700"/>
          <ac:spMkLst>
            <pc:docMk/>
            <pc:sldMk cId="2380255443" sldId="271"/>
            <ac:spMk id="2" creationId="{F32B121F-7078-4E33-BF7A-DA0F832B64ED}"/>
          </ac:spMkLst>
        </pc:spChg>
        <pc:spChg chg="del mod">
          <ac:chgData name="stephen livio" userId="189b3cb06c1c9117" providerId="LiveId" clId="{7746D3FD-364F-4D55-9CB8-8D61F29F559E}" dt="2023-01-03T11:48:29.385" v="113" actId="700"/>
          <ac:spMkLst>
            <pc:docMk/>
            <pc:sldMk cId="2380255443" sldId="271"/>
            <ac:spMk id="3" creationId="{2BCF4C56-BF61-4D3A-A0E5-60ECD7C318AE}"/>
          </ac:spMkLst>
        </pc:spChg>
        <pc:spChg chg="add mod">
          <ac:chgData name="stephen livio" userId="189b3cb06c1c9117" providerId="LiveId" clId="{7746D3FD-364F-4D55-9CB8-8D61F29F559E}" dt="2023-01-04T01:07:28.640" v="612" actId="6549"/>
          <ac:spMkLst>
            <pc:docMk/>
            <pc:sldMk cId="2380255443" sldId="271"/>
            <ac:spMk id="5" creationId="{0D313665-9D4F-4291-8CF9-C28D023A676A}"/>
          </ac:spMkLst>
        </pc:spChg>
      </pc:sldChg>
      <pc:sldChg chg="addSp delSp modSp new mod modClrScheme chgLayout">
        <pc:chgData name="stephen livio" userId="189b3cb06c1c9117" providerId="LiveId" clId="{7746D3FD-364F-4D55-9CB8-8D61F29F559E}" dt="2023-01-03T12:12:06.384" v="394" actId="1076"/>
        <pc:sldMkLst>
          <pc:docMk/>
          <pc:sldMk cId="3044053296" sldId="272"/>
        </pc:sldMkLst>
        <pc:spChg chg="add del mod">
          <ac:chgData name="stephen livio" userId="189b3cb06c1c9117" providerId="LiveId" clId="{7746D3FD-364F-4D55-9CB8-8D61F29F559E}" dt="2023-01-03T11:51:14.436" v="176" actId="700"/>
          <ac:spMkLst>
            <pc:docMk/>
            <pc:sldMk cId="3044053296" sldId="272"/>
            <ac:spMk id="2" creationId="{F0748933-9962-49C8-86B6-4D050EA5545D}"/>
          </ac:spMkLst>
        </pc:spChg>
        <pc:spChg chg="add del mod">
          <ac:chgData name="stephen livio" userId="189b3cb06c1c9117" providerId="LiveId" clId="{7746D3FD-364F-4D55-9CB8-8D61F29F559E}" dt="2023-01-03T11:51:14.436" v="176" actId="700"/>
          <ac:spMkLst>
            <pc:docMk/>
            <pc:sldMk cId="3044053296" sldId="272"/>
            <ac:spMk id="3" creationId="{5ED08CC0-956F-4C7E-82BB-440CB70E1CB0}"/>
          </ac:spMkLst>
        </pc:spChg>
        <pc:spChg chg="add del">
          <ac:chgData name="stephen livio" userId="189b3cb06c1c9117" providerId="LiveId" clId="{7746D3FD-364F-4D55-9CB8-8D61F29F559E}" dt="2023-01-03T11:50:30.221" v="171"/>
          <ac:spMkLst>
            <pc:docMk/>
            <pc:sldMk cId="3044053296" sldId="272"/>
            <ac:spMk id="4" creationId="{9EA0A9BB-DDB2-4471-B1F6-4055375D79A4}"/>
          </ac:spMkLst>
        </pc:spChg>
        <pc:spChg chg="add del">
          <ac:chgData name="stephen livio" userId="189b3cb06c1c9117" providerId="LiveId" clId="{7746D3FD-364F-4D55-9CB8-8D61F29F559E}" dt="2023-01-03T11:50:34.103" v="173"/>
          <ac:spMkLst>
            <pc:docMk/>
            <pc:sldMk cId="3044053296" sldId="272"/>
            <ac:spMk id="5" creationId="{26F6B780-E87B-4F58-80C3-3DF474AD7523}"/>
          </ac:spMkLst>
        </pc:spChg>
        <pc:spChg chg="add del">
          <ac:chgData name="stephen livio" userId="189b3cb06c1c9117" providerId="LiveId" clId="{7746D3FD-364F-4D55-9CB8-8D61F29F559E}" dt="2023-01-03T11:50:59.392" v="175"/>
          <ac:spMkLst>
            <pc:docMk/>
            <pc:sldMk cId="3044053296" sldId="272"/>
            <ac:spMk id="6" creationId="{8B9DDBFB-0514-4A0B-ADE5-44563BC581E6}"/>
          </ac:spMkLst>
        </pc:spChg>
        <pc:spChg chg="add mod">
          <ac:chgData name="stephen livio" userId="189b3cb06c1c9117" providerId="LiveId" clId="{7746D3FD-364F-4D55-9CB8-8D61F29F559E}" dt="2023-01-03T12:11:46.210" v="391" actId="6549"/>
          <ac:spMkLst>
            <pc:docMk/>
            <pc:sldMk cId="3044053296" sldId="272"/>
            <ac:spMk id="7" creationId="{B72FC5E3-01AF-4AF0-8584-AA60A1C74501}"/>
          </ac:spMkLst>
        </pc:spChg>
        <pc:picChg chg="add del">
          <ac:chgData name="stephen livio" userId="189b3cb06c1c9117" providerId="LiveId" clId="{7746D3FD-364F-4D55-9CB8-8D61F29F559E}" dt="2023-01-03T11:50:30.221" v="171"/>
          <ac:picMkLst>
            <pc:docMk/>
            <pc:sldMk cId="3044053296" sldId="272"/>
            <ac:picMk id="1026" creationId="{9217B664-4B0E-4AA3-A6D7-4AB80DF2F75D}"/>
          </ac:picMkLst>
        </pc:picChg>
        <pc:picChg chg="add del">
          <ac:chgData name="stephen livio" userId="189b3cb06c1c9117" providerId="LiveId" clId="{7746D3FD-364F-4D55-9CB8-8D61F29F559E}" dt="2023-01-03T11:50:30.221" v="171"/>
          <ac:picMkLst>
            <pc:docMk/>
            <pc:sldMk cId="3044053296" sldId="272"/>
            <ac:picMk id="1027" creationId="{4A7BD60A-D2D1-4684-A560-5B63C37B27B8}"/>
          </ac:picMkLst>
        </pc:picChg>
        <pc:picChg chg="add del">
          <ac:chgData name="stephen livio" userId="189b3cb06c1c9117" providerId="LiveId" clId="{7746D3FD-364F-4D55-9CB8-8D61F29F559E}" dt="2023-01-03T11:50:34.103" v="173"/>
          <ac:picMkLst>
            <pc:docMk/>
            <pc:sldMk cId="3044053296" sldId="272"/>
            <ac:picMk id="1029" creationId="{FE929744-B3C4-4CE4-A55C-E7341F38EB88}"/>
          </ac:picMkLst>
        </pc:picChg>
        <pc:picChg chg="add del">
          <ac:chgData name="stephen livio" userId="189b3cb06c1c9117" providerId="LiveId" clId="{7746D3FD-364F-4D55-9CB8-8D61F29F559E}" dt="2023-01-03T11:50:34.103" v="173"/>
          <ac:picMkLst>
            <pc:docMk/>
            <pc:sldMk cId="3044053296" sldId="272"/>
            <ac:picMk id="1030" creationId="{227367ED-C825-4CF6-9138-9129E22C2A4F}"/>
          </ac:picMkLst>
        </pc:picChg>
        <pc:picChg chg="add del">
          <ac:chgData name="stephen livio" userId="189b3cb06c1c9117" providerId="LiveId" clId="{7746D3FD-364F-4D55-9CB8-8D61F29F559E}" dt="2023-01-03T11:50:59.392" v="175"/>
          <ac:picMkLst>
            <pc:docMk/>
            <pc:sldMk cId="3044053296" sldId="272"/>
            <ac:picMk id="1032" creationId="{9DA76967-0533-46B8-A6A0-0F295858820A}"/>
          </ac:picMkLst>
        </pc:picChg>
        <pc:picChg chg="add del">
          <ac:chgData name="stephen livio" userId="189b3cb06c1c9117" providerId="LiveId" clId="{7746D3FD-364F-4D55-9CB8-8D61F29F559E}" dt="2023-01-03T11:50:59.392" v="175"/>
          <ac:picMkLst>
            <pc:docMk/>
            <pc:sldMk cId="3044053296" sldId="272"/>
            <ac:picMk id="1033" creationId="{034BA5E9-6DFC-4CF2-A10F-941E1B8E261E}"/>
          </ac:picMkLst>
        </pc:picChg>
        <pc:picChg chg="add mod">
          <ac:chgData name="stephen livio" userId="189b3cb06c1c9117" providerId="LiveId" clId="{7746D3FD-364F-4D55-9CB8-8D61F29F559E}" dt="2023-01-03T12:12:06.384" v="394" actId="1076"/>
          <ac:picMkLst>
            <pc:docMk/>
            <pc:sldMk cId="3044053296" sldId="272"/>
            <ac:picMk id="1035" creationId="{56741B3C-D454-4D8D-BCAB-E6D89FC7622A}"/>
          </ac:picMkLst>
        </pc:picChg>
        <pc:picChg chg="add mod">
          <ac:chgData name="stephen livio" userId="189b3cb06c1c9117" providerId="LiveId" clId="{7746D3FD-364F-4D55-9CB8-8D61F29F559E}" dt="2023-01-03T12:12:04.089" v="393" actId="1076"/>
          <ac:picMkLst>
            <pc:docMk/>
            <pc:sldMk cId="3044053296" sldId="272"/>
            <ac:picMk id="1036" creationId="{692E3A4B-6114-4816-8D68-E039F82B1291}"/>
          </ac:picMkLst>
        </pc:picChg>
      </pc:sldChg>
      <pc:sldChg chg="addSp modSp new mod modClrScheme modAnim chgLayout">
        <pc:chgData name="stephen livio" userId="189b3cb06c1c9117" providerId="LiveId" clId="{7746D3FD-364F-4D55-9CB8-8D61F29F559E}" dt="2023-01-03T12:28:34.505" v="594"/>
        <pc:sldMkLst>
          <pc:docMk/>
          <pc:sldMk cId="2150153401" sldId="273"/>
        </pc:sldMkLst>
        <pc:spChg chg="add mod">
          <ac:chgData name="stephen livio" userId="189b3cb06c1c9117" providerId="LiveId" clId="{7746D3FD-364F-4D55-9CB8-8D61F29F559E}" dt="2023-01-03T12:24:20.543" v="492" actId="255"/>
          <ac:spMkLst>
            <pc:docMk/>
            <pc:sldMk cId="2150153401" sldId="273"/>
            <ac:spMk id="2" creationId="{39B19CC7-FB9A-4DE3-8725-9C228CAE8FA1}"/>
          </ac:spMkLst>
        </pc:spChg>
        <pc:spChg chg="add mod">
          <ac:chgData name="stephen livio" userId="189b3cb06c1c9117" providerId="LiveId" clId="{7746D3FD-364F-4D55-9CB8-8D61F29F559E}" dt="2023-01-03T12:24:44.941" v="504"/>
          <ac:spMkLst>
            <pc:docMk/>
            <pc:sldMk cId="2150153401" sldId="273"/>
            <ac:spMk id="3" creationId="{6769034E-F5F8-498E-A22B-22ECC5ED60BB}"/>
          </ac:spMkLst>
        </pc:spChg>
      </pc:sldChg>
      <pc:sldChg chg="addSp delSp modSp new mod modClrScheme chgLayout">
        <pc:chgData name="stephen livio" userId="189b3cb06c1c9117" providerId="LiveId" clId="{7746D3FD-364F-4D55-9CB8-8D61F29F559E}" dt="2023-01-03T12:28:00.065" v="591"/>
        <pc:sldMkLst>
          <pc:docMk/>
          <pc:sldMk cId="3942405472" sldId="274"/>
        </pc:sldMkLst>
        <pc:spChg chg="del">
          <ac:chgData name="stephen livio" userId="189b3cb06c1c9117" providerId="LiveId" clId="{7746D3FD-364F-4D55-9CB8-8D61F29F559E}" dt="2023-01-03T12:25:13.309" v="506" actId="700"/>
          <ac:spMkLst>
            <pc:docMk/>
            <pc:sldMk cId="3942405472" sldId="274"/>
            <ac:spMk id="2" creationId="{46AD8800-A7E7-457C-A44A-0DD7D6949BD7}"/>
          </ac:spMkLst>
        </pc:spChg>
        <pc:spChg chg="del">
          <ac:chgData name="stephen livio" userId="189b3cb06c1c9117" providerId="LiveId" clId="{7746D3FD-364F-4D55-9CB8-8D61F29F559E}" dt="2023-01-03T12:25:13.309" v="506" actId="700"/>
          <ac:spMkLst>
            <pc:docMk/>
            <pc:sldMk cId="3942405472" sldId="274"/>
            <ac:spMk id="3" creationId="{A6D62282-CA83-47E6-9E0E-B4ED159CCC02}"/>
          </ac:spMkLst>
        </pc:spChg>
        <pc:spChg chg="add mod">
          <ac:chgData name="stephen livio" userId="189b3cb06c1c9117" providerId="LiveId" clId="{7746D3FD-364F-4D55-9CB8-8D61F29F559E}" dt="2023-01-03T12:28:00.065" v="591"/>
          <ac:spMkLst>
            <pc:docMk/>
            <pc:sldMk cId="3942405472" sldId="274"/>
            <ac:spMk id="5" creationId="{BEC138EB-94CE-4BFF-A835-730A4B2CCA97}"/>
          </ac:spMkLst>
        </pc:spChg>
      </pc:sldChg>
      <pc:sldChg chg="addSp modSp new mod modClrScheme chgLayout">
        <pc:chgData name="stephen livio" userId="189b3cb06c1c9117" providerId="LiveId" clId="{7746D3FD-364F-4D55-9CB8-8D61F29F559E}" dt="2023-01-04T01:41:01.426" v="625" actId="20577"/>
        <pc:sldMkLst>
          <pc:docMk/>
          <pc:sldMk cId="3250095521" sldId="275"/>
        </pc:sldMkLst>
        <pc:spChg chg="add mod">
          <ac:chgData name="stephen livio" userId="189b3cb06c1c9117" providerId="LiveId" clId="{7746D3FD-364F-4D55-9CB8-8D61F29F559E}" dt="2023-01-04T01:40:53.611" v="614" actId="700"/>
          <ac:spMkLst>
            <pc:docMk/>
            <pc:sldMk cId="3250095521" sldId="275"/>
            <ac:spMk id="2" creationId="{5169EC8A-81FF-482A-9CA6-092E8DCA4516}"/>
          </ac:spMkLst>
        </pc:spChg>
        <pc:spChg chg="add mod">
          <ac:chgData name="stephen livio" userId="189b3cb06c1c9117" providerId="LiveId" clId="{7746D3FD-364F-4D55-9CB8-8D61F29F559E}" dt="2023-01-04T01:41:01.426" v="625" actId="20577"/>
          <ac:spMkLst>
            <pc:docMk/>
            <pc:sldMk cId="3250095521" sldId="275"/>
            <ac:spMk id="3" creationId="{B8370877-3007-4778-8C9F-DB81C65647F7}"/>
          </ac:spMkLst>
        </pc:spChg>
      </pc:sldChg>
      <pc:sldChg chg="addSp modSp new del mod">
        <pc:chgData name="stephen livio" userId="189b3cb06c1c9117" providerId="LiveId" clId="{7746D3FD-364F-4D55-9CB8-8D61F29F559E}" dt="2023-01-04T02:11:58.501" v="631" actId="2696"/>
        <pc:sldMkLst>
          <pc:docMk/>
          <pc:sldMk cId="71524003" sldId="276"/>
        </pc:sldMkLst>
        <pc:spChg chg="mod">
          <ac:chgData name="stephen livio" userId="189b3cb06c1c9117" providerId="LiveId" clId="{7746D3FD-364F-4D55-9CB8-8D61F29F559E}" dt="2023-01-04T02:11:50.064" v="628" actId="27636"/>
          <ac:spMkLst>
            <pc:docMk/>
            <pc:sldMk cId="71524003" sldId="276"/>
            <ac:spMk id="3" creationId="{621DB0C6-C4CE-4959-A6EC-C4A24C213C47}"/>
          </ac:spMkLst>
        </pc:spChg>
        <pc:spChg chg="add mod">
          <ac:chgData name="stephen livio" userId="189b3cb06c1c9117" providerId="LiveId" clId="{7746D3FD-364F-4D55-9CB8-8D61F29F559E}" dt="2023-01-04T02:11:55.370" v="630" actId="571"/>
          <ac:spMkLst>
            <pc:docMk/>
            <pc:sldMk cId="71524003" sldId="276"/>
            <ac:spMk id="4" creationId="{771F3623-0641-4862-903A-27E374BAAF39}"/>
          </ac:spMkLst>
        </pc:spChg>
      </pc:sldChg>
      <pc:sldChg chg="addSp delSp modSp new mod modClrScheme chgLayout">
        <pc:chgData name="stephen livio" userId="189b3cb06c1c9117" providerId="LiveId" clId="{7746D3FD-364F-4D55-9CB8-8D61F29F559E}" dt="2023-01-04T02:42:06.279" v="665"/>
        <pc:sldMkLst>
          <pc:docMk/>
          <pc:sldMk cId="2733068900" sldId="276"/>
        </pc:sldMkLst>
        <pc:spChg chg="del">
          <ac:chgData name="stephen livio" userId="189b3cb06c1c9117" providerId="LiveId" clId="{7746D3FD-364F-4D55-9CB8-8D61F29F559E}" dt="2023-01-04T02:12:05.206" v="633" actId="700"/>
          <ac:spMkLst>
            <pc:docMk/>
            <pc:sldMk cId="2733068900" sldId="276"/>
            <ac:spMk id="2" creationId="{2192D841-BED7-44A0-B2DF-E1BC4F396185}"/>
          </ac:spMkLst>
        </pc:spChg>
        <pc:spChg chg="del">
          <ac:chgData name="stephen livio" userId="189b3cb06c1c9117" providerId="LiveId" clId="{7746D3FD-364F-4D55-9CB8-8D61F29F559E}" dt="2023-01-04T02:12:05.206" v="633" actId="700"/>
          <ac:spMkLst>
            <pc:docMk/>
            <pc:sldMk cId="2733068900" sldId="276"/>
            <ac:spMk id="3" creationId="{7CE315EB-BB83-46E8-ACF9-3C6ECA28165F}"/>
          </ac:spMkLst>
        </pc:spChg>
        <pc:spChg chg="add mod">
          <ac:chgData name="stephen livio" userId="189b3cb06c1c9117" providerId="LiveId" clId="{7746D3FD-364F-4D55-9CB8-8D61F29F559E}" dt="2023-01-04T02:42:06.279" v="665"/>
          <ac:spMkLst>
            <pc:docMk/>
            <pc:sldMk cId="2733068900" sldId="276"/>
            <ac:spMk id="5" creationId="{277DF348-A75D-4E8D-9082-F7620D7C235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1/4/2023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1/4/2023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1/4/2023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1/4/2023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1/4/2023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1/4/2023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1/4/2023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1/4/2023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1/4/2023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1/4/2023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1/4/2023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1/4/2023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img2018.cnblogs.com/blog/1536438/201907/1536438-20190709112541551-1586871957.png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img2018.cnblogs.com/blog/1536438/201907/1536438-20190709112627438-63255137.png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hyperlink" Target="https://img2018.cnblogs.com/blog/1536438/201907/1536438-20190709112640519-1242961812.png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uogu.com.cn/problem/UVA1025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1F8952-2F53-4BED-B123-0F6874F1BD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err="1"/>
              <a:t>Dp</a:t>
            </a:r>
            <a:r>
              <a:rPr lang="zh-CN" altLang="en-US" dirty="0"/>
              <a:t>原理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E63D376-07B8-490C-B389-DBE16CCEFE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7631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D03EF2D2-4DE6-4569-94BD-72B9091CB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3"/>
            <a:ext cx="10058400" cy="874830"/>
          </a:xfrm>
        </p:spPr>
        <p:txBody>
          <a:bodyPr/>
          <a:lstStyle/>
          <a:p>
            <a:r>
              <a:rPr lang="zh-CN" altLang="en-US" b="0" i="0" dirty="0">
                <a:effectLst/>
                <a:latin typeface="Fira Sans" panose="020B0503050000020004" pitchFamily="34" charset="0"/>
              </a:rPr>
              <a:t>最优子结构</a:t>
            </a:r>
            <a:endParaRPr lang="zh-CN" altLang="en-US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EB4B2F93-E1C3-425B-B5FC-D2771C2C3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359463"/>
            <a:ext cx="10058400" cy="4812737"/>
          </a:xfrm>
        </p:spPr>
        <p:txBody>
          <a:bodyPr/>
          <a:lstStyle/>
          <a:p>
            <a:pPr algn="just"/>
            <a:r>
              <a:rPr lang="zh-CN" altLang="en-US" sz="36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最优子结构指的是，问题的最优解包含子问题的最优解。反过来说就是，</a:t>
            </a:r>
            <a:r>
              <a:rPr lang="zh-CN" altLang="en-US" sz="3600" b="1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可以通过子问题的最优解，推导出问题的最优解。</a:t>
            </a:r>
            <a:endParaRPr lang="zh-CN" altLang="en-US" sz="3600" b="0" i="0" dirty="0">
              <a:solidFill>
                <a:srgbClr val="555555"/>
              </a:solidFill>
              <a:effectLst/>
              <a:latin typeface="Lato" panose="020F0502020204030203" pitchFamily="34" charset="0"/>
            </a:endParaRPr>
          </a:p>
          <a:p>
            <a:pPr algn="just"/>
            <a:r>
              <a:rPr lang="zh-CN" altLang="en-US" sz="36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若把最优子结构对应到前面定义的动态规划问题模型上，可以理解为，后面阶段的状态可以通过前面阶段的状态推导出来。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6827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CCD475-1263-4FCB-AA48-168A1D1DB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无后效性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FD91E0-27F1-484A-BC8E-991ED82CD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6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无后效性有两层含义，第一层含义是，在推导后面阶段的状态的时候，只关心前面阶段的状态值，不关心这个前面这个状态是怎么一步一步推导出来的。</a:t>
            </a:r>
            <a:endParaRPr lang="en-US" altLang="zh-CN" sz="3600" b="0" i="0" dirty="0">
              <a:solidFill>
                <a:srgbClr val="555555"/>
              </a:solidFill>
              <a:effectLst/>
              <a:latin typeface="Lato" panose="020F0502020204030203" pitchFamily="34" charset="0"/>
            </a:endParaRPr>
          </a:p>
          <a:p>
            <a:r>
              <a:rPr lang="zh-CN" altLang="en-US" sz="36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第二层含义是，某阶段状态一旦确定，就不受之后阶段的决策影响。无后效性是一个非常“宽松”的要求。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490402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EAF17E-7705-4CC5-900B-FEB47D311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重复子问题</a:t>
            </a:r>
            <a:br>
              <a:rPr lang="zh-CN" altLang="en-US" b="1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1AEA8D-17E1-459C-A899-B746E7396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2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不同的决策序列，到达某个相同的阶段时，可能会产生重复的状态。</a:t>
            </a:r>
            <a:endParaRPr lang="en-US" altLang="zh-CN" sz="3200" b="0" i="0" dirty="0">
              <a:solidFill>
                <a:srgbClr val="555555"/>
              </a:solidFill>
              <a:effectLst/>
              <a:latin typeface="Lato" panose="020F0502020204030203" pitchFamily="34" charset="0"/>
            </a:endParaRPr>
          </a:p>
          <a:p>
            <a:r>
              <a:rPr lang="zh-CN" altLang="en-US" sz="3200" dirty="0">
                <a:solidFill>
                  <a:srgbClr val="555555"/>
                </a:solidFill>
                <a:latin typeface="Lato" panose="020F0502020204030203" pitchFamily="34" charset="0"/>
              </a:rPr>
              <a:t>而</a:t>
            </a:r>
            <a:r>
              <a:rPr lang="en-US" altLang="zh-CN" sz="3200" dirty="0">
                <a:solidFill>
                  <a:srgbClr val="555555"/>
                </a:solidFill>
                <a:latin typeface="Lato" panose="020F0502020204030203" pitchFamily="34" charset="0"/>
              </a:rPr>
              <a:t>DP</a:t>
            </a:r>
            <a:r>
              <a:rPr lang="zh-CN" altLang="en-US" sz="3200" dirty="0">
                <a:solidFill>
                  <a:srgbClr val="555555"/>
                </a:solidFill>
                <a:latin typeface="Lato" panose="020F0502020204030203" pitchFamily="34" charset="0"/>
              </a:rPr>
              <a:t>的关键就是因为这个每次计算会计算到重复的状态</a:t>
            </a:r>
            <a:r>
              <a:rPr lang="en-US" altLang="zh-CN" sz="3200" dirty="0">
                <a:solidFill>
                  <a:srgbClr val="555555"/>
                </a:solidFill>
                <a:latin typeface="Lato" panose="020F0502020204030203" pitchFamily="34" charset="0"/>
              </a:rPr>
              <a:t>,</a:t>
            </a:r>
            <a:r>
              <a:rPr lang="zh-CN" altLang="en-US" sz="3200" dirty="0">
                <a:solidFill>
                  <a:srgbClr val="555555"/>
                </a:solidFill>
                <a:latin typeface="Lato" panose="020F0502020204030203" pitchFamily="34" charset="0"/>
              </a:rPr>
              <a:t>而可以只计算这个状态一次</a:t>
            </a:r>
            <a:r>
              <a:rPr lang="en-US" altLang="zh-CN" sz="3200" dirty="0">
                <a:solidFill>
                  <a:srgbClr val="555555"/>
                </a:solidFill>
                <a:latin typeface="Lato" panose="020F0502020204030203" pitchFamily="34" charset="0"/>
              </a:rPr>
              <a:t>,</a:t>
            </a:r>
            <a:r>
              <a:rPr lang="zh-CN" altLang="en-US" sz="3200" dirty="0">
                <a:solidFill>
                  <a:srgbClr val="555555"/>
                </a:solidFill>
                <a:latin typeface="Lato" panose="020F0502020204030203" pitchFamily="34" charset="0"/>
              </a:rPr>
              <a:t>达到优化时间的效果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358761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E5F8E42-D81A-471D-87BB-427C98496E19}"/>
              </a:ext>
            </a:extLst>
          </p:cNvPr>
          <p:cNvSpPr txBox="1"/>
          <p:nvPr/>
        </p:nvSpPr>
        <p:spPr>
          <a:xfrm>
            <a:off x="307498" y="1327094"/>
            <a:ext cx="104791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假设有一个 </a:t>
            </a:r>
            <a:r>
              <a:rPr lang="en-US" altLang="zh-CN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n </a:t>
            </a:r>
            <a:r>
              <a:rPr lang="zh-CN" altLang="en-US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乘以 </a:t>
            </a:r>
            <a:r>
              <a:rPr lang="en-US" altLang="zh-CN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n </a:t>
            </a:r>
            <a:r>
              <a:rPr lang="zh-CN" altLang="en-US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的矩阵 </a:t>
            </a:r>
            <a:r>
              <a:rPr lang="en-US" altLang="zh-CN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w[n][n]</a:t>
            </a:r>
            <a:r>
              <a:rPr lang="zh-CN" altLang="en-US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。矩阵存储的都是正整数。棋子起始位置在左上角，终止位置在右下角。将棋子从左上角移动到右下角。每次只能向右或者向下移动一位。从左上角到右下角，会有很多不同的路径可以走。把每条路径经过的数字加起来看作路径的长度。那从左上角移动到右下角的最短路径长度是多少呢？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D60152A-9C3F-4CE8-A443-CD3F5A30D2D0}"/>
              </a:ext>
            </a:extLst>
          </p:cNvPr>
          <p:cNvSpPr txBox="1"/>
          <p:nvPr/>
        </p:nvSpPr>
        <p:spPr>
          <a:xfrm>
            <a:off x="2735107" y="687823"/>
            <a:ext cx="50577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以昨天的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Helvetica Neue"/>
              </a:rPr>
              <a:t>花生</a:t>
            </a:r>
            <a:r>
              <a:rPr lang="zh-CN" altLang="en-US" sz="2000" dirty="0">
                <a:solidFill>
                  <a:srgbClr val="333333"/>
                </a:solidFill>
                <a:latin typeface="Helvetica Neue"/>
              </a:rPr>
              <a:t>摘花生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Helvetica Neue"/>
              </a:rPr>
              <a:t>为例子分析这三个要求</a:t>
            </a:r>
            <a:endParaRPr lang="zh-CN" altLang="en-US" sz="2000" dirty="0"/>
          </a:p>
        </p:txBody>
      </p:sp>
      <p:pic>
        <p:nvPicPr>
          <p:cNvPr id="1026" name="Picture 2" descr="img">
            <a:extLst>
              <a:ext uri="{FF2B5EF4-FFF2-40B4-BE49-F238E27FC236}">
                <a16:creationId xmlns:a16="http://schemas.microsoft.com/office/drawing/2014/main" id="{BAF9BC34-99B2-4058-A44E-B991C23700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2908" y="2913131"/>
            <a:ext cx="7281946" cy="3409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6757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3675972-C443-4BDE-87FF-B2F954D5B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7998" y="3044506"/>
            <a:ext cx="6577584" cy="323895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493C24B-9525-4228-B7C0-4BAB85A838B5}"/>
              </a:ext>
            </a:extLst>
          </p:cNvPr>
          <p:cNvSpPr txBox="1"/>
          <p:nvPr/>
        </p:nvSpPr>
        <p:spPr>
          <a:xfrm>
            <a:off x="2748115" y="680229"/>
            <a:ext cx="609734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若用回溯算法解决这个问题，并画出递归树。从中可以发现，递归树中有重复的节点。重复的节点表示，从左上角到节点对应的位置，有多种路线，这也能说明这个问题中存在重复子问题。</a:t>
            </a:r>
            <a:endParaRPr lang="zh-CN" altLang="en-US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9415336-ECD4-4E47-A0CA-1C6E20463D1C}"/>
              </a:ext>
            </a:extLst>
          </p:cNvPr>
          <p:cNvSpPr txBox="1"/>
          <p:nvPr/>
        </p:nvSpPr>
        <p:spPr>
          <a:xfrm>
            <a:off x="2616353" y="526341"/>
            <a:ext cx="636087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当走到 </a:t>
            </a:r>
            <a:r>
              <a:rPr lang="en-US" altLang="zh-CN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(</a:t>
            </a:r>
            <a:r>
              <a:rPr lang="en-US" altLang="zh-CN" sz="2000" b="0" i="0" dirty="0" err="1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i</a:t>
            </a:r>
            <a:r>
              <a:rPr lang="en-US" altLang="zh-CN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, j) </a:t>
            </a:r>
            <a:r>
              <a:rPr lang="zh-CN" altLang="en-US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这个位置时，只能通过 </a:t>
            </a:r>
            <a:r>
              <a:rPr lang="en-US" altLang="zh-CN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(i-1, j)</a:t>
            </a:r>
            <a:r>
              <a:rPr lang="zh-CN" altLang="en-US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，</a:t>
            </a:r>
            <a:r>
              <a:rPr lang="en-US" altLang="zh-CN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(</a:t>
            </a:r>
            <a:r>
              <a:rPr lang="en-US" altLang="zh-CN" sz="2000" b="0" i="0" dirty="0" err="1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i</a:t>
            </a:r>
            <a:r>
              <a:rPr lang="en-US" altLang="zh-CN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, j-1) </a:t>
            </a:r>
            <a:r>
              <a:rPr lang="zh-CN" altLang="en-US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这两个位置移动过来。也就是说，要计算 </a:t>
            </a:r>
            <a:r>
              <a:rPr lang="en-US" altLang="zh-CN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(</a:t>
            </a:r>
            <a:r>
              <a:rPr lang="en-US" altLang="zh-CN" sz="2000" b="0" i="0" dirty="0" err="1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i,j</a:t>
            </a:r>
            <a:r>
              <a:rPr lang="en-US" altLang="zh-CN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) </a:t>
            </a:r>
            <a:r>
              <a:rPr lang="zh-CN" altLang="en-US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位置对应的状态，只需要关心 </a:t>
            </a:r>
            <a:r>
              <a:rPr lang="en-US" altLang="zh-CN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(i-1, j)</a:t>
            </a:r>
            <a:r>
              <a:rPr lang="zh-CN" altLang="en-US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，</a:t>
            </a:r>
            <a:r>
              <a:rPr lang="en-US" altLang="zh-CN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(</a:t>
            </a:r>
            <a:r>
              <a:rPr lang="en-US" altLang="zh-CN" sz="2000" b="0" i="0" dirty="0" err="1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i</a:t>
            </a:r>
            <a:r>
              <a:rPr lang="en-US" altLang="zh-CN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, j-1) </a:t>
            </a:r>
            <a:r>
              <a:rPr lang="zh-CN" altLang="en-US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这两个位置对应的状态，</a:t>
            </a:r>
            <a:r>
              <a:rPr lang="zh-CN" altLang="en-US" sz="2000" b="1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并不关心棋子是通过什么样的路线到达这两个位置的</a:t>
            </a:r>
            <a:r>
              <a:rPr lang="zh-CN" altLang="en-US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。而且，我们仅仅允许往下和往右移动，不允许后退，所以，</a:t>
            </a:r>
            <a:r>
              <a:rPr lang="zh-CN" altLang="en-US" sz="2000" b="1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前面阶段的状态确定之后，不会被后面阶段的决策所改变</a:t>
            </a:r>
            <a:r>
              <a:rPr lang="zh-CN" altLang="en-US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，所以，这个问题符合</a:t>
            </a:r>
            <a:r>
              <a:rPr lang="zh-CN" altLang="en-US" sz="2000" b="1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“无后效性”</a:t>
            </a:r>
            <a:r>
              <a:rPr lang="zh-CN" altLang="en-US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这一特征。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093565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9" grpId="0"/>
      <p:bldP spid="9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97B4A1F-33B1-4514-B976-A12C3A8C6F90}"/>
              </a:ext>
            </a:extLst>
          </p:cNvPr>
          <p:cNvSpPr txBox="1"/>
          <p:nvPr/>
        </p:nvSpPr>
        <p:spPr>
          <a:xfrm>
            <a:off x="1424198" y="1351370"/>
            <a:ext cx="742039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前面定义从起始位置 </a:t>
            </a:r>
            <a:r>
              <a:rPr lang="en-US" altLang="zh-CN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(0, 0) </a:t>
            </a:r>
            <a:r>
              <a:rPr lang="zh-CN" altLang="en-US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到 </a:t>
            </a:r>
            <a:r>
              <a:rPr lang="en-US" altLang="zh-CN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(</a:t>
            </a:r>
            <a:r>
              <a:rPr lang="en-US" altLang="zh-CN" sz="2000" b="0" i="0" dirty="0" err="1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i</a:t>
            </a:r>
            <a:r>
              <a:rPr lang="en-US" altLang="zh-CN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, j) </a:t>
            </a:r>
            <a:r>
              <a:rPr lang="zh-CN" altLang="en-US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的最小路径，记作 </a:t>
            </a:r>
            <a:r>
              <a:rPr lang="en-US" altLang="zh-CN" sz="2000" b="0" i="0" dirty="0" err="1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dp</a:t>
            </a:r>
            <a:r>
              <a:rPr lang="en-US" altLang="zh-CN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(</a:t>
            </a:r>
            <a:r>
              <a:rPr lang="en-US" altLang="zh-CN" sz="2000" b="0" i="0" dirty="0" err="1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i</a:t>
            </a:r>
            <a:r>
              <a:rPr lang="en-US" altLang="zh-CN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, j)</a:t>
            </a:r>
            <a:r>
              <a:rPr lang="zh-CN" altLang="en-US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。因为只能往右或往下移动，所以只有可能从 </a:t>
            </a:r>
            <a:r>
              <a:rPr lang="en-US" altLang="zh-CN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(</a:t>
            </a:r>
            <a:r>
              <a:rPr lang="en-US" altLang="zh-CN" sz="2000" b="0" i="0" dirty="0" err="1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i</a:t>
            </a:r>
            <a:r>
              <a:rPr lang="en-US" altLang="zh-CN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, j-1) </a:t>
            </a:r>
            <a:r>
              <a:rPr lang="zh-CN" altLang="en-US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或者 </a:t>
            </a:r>
            <a:r>
              <a:rPr lang="en-US" altLang="zh-CN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(i-1, j) </a:t>
            </a:r>
            <a:r>
              <a:rPr lang="zh-CN" altLang="en-US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两个位置到达 </a:t>
            </a:r>
            <a:r>
              <a:rPr lang="en-US" altLang="zh-CN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(</a:t>
            </a:r>
            <a:r>
              <a:rPr lang="en-US" altLang="zh-CN" sz="2000" b="0" i="0" dirty="0" err="1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i</a:t>
            </a:r>
            <a:r>
              <a:rPr lang="en-US" altLang="zh-CN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, j)</a:t>
            </a:r>
            <a:r>
              <a:rPr lang="zh-CN" altLang="en-US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。即到达 </a:t>
            </a:r>
            <a:r>
              <a:rPr lang="en-US" altLang="zh-CN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(</a:t>
            </a:r>
            <a:r>
              <a:rPr lang="en-US" altLang="zh-CN" sz="2000" b="0" i="0" dirty="0" err="1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i</a:t>
            </a:r>
            <a:r>
              <a:rPr lang="en-US" altLang="zh-CN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, j) </a:t>
            </a:r>
            <a:r>
              <a:rPr lang="zh-CN" altLang="en-US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的最短路径要么经过 </a:t>
            </a:r>
            <a:r>
              <a:rPr lang="en-US" altLang="zh-CN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(</a:t>
            </a:r>
            <a:r>
              <a:rPr lang="en-US" altLang="zh-CN" sz="2000" b="0" i="0" dirty="0" err="1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i</a:t>
            </a:r>
            <a:r>
              <a:rPr lang="en-US" altLang="zh-CN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, j-1)</a:t>
            </a:r>
            <a:r>
              <a:rPr lang="zh-CN" altLang="en-US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，要么经过 </a:t>
            </a:r>
            <a:r>
              <a:rPr lang="en-US" altLang="zh-CN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(i-1, j)</a:t>
            </a:r>
            <a:r>
              <a:rPr lang="zh-CN" altLang="en-US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，而且到达 </a:t>
            </a:r>
            <a:r>
              <a:rPr lang="en-US" altLang="zh-CN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(</a:t>
            </a:r>
            <a:r>
              <a:rPr lang="en-US" altLang="zh-CN" sz="2000" b="0" i="0" dirty="0" err="1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i</a:t>
            </a:r>
            <a:r>
              <a:rPr lang="en-US" altLang="zh-CN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, j) </a:t>
            </a:r>
            <a:r>
              <a:rPr lang="zh-CN" altLang="en-US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的最短路径肯定包含到达这两个位置的最短路径之一。换句话说就是，</a:t>
            </a:r>
            <a:r>
              <a:rPr lang="en-US" altLang="zh-CN" sz="2000" b="0" i="0" dirty="0" err="1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dp</a:t>
            </a:r>
            <a:r>
              <a:rPr lang="en-US" altLang="zh-CN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(</a:t>
            </a:r>
            <a:r>
              <a:rPr lang="en-US" altLang="zh-CN" sz="2000" b="0" i="0" dirty="0" err="1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i</a:t>
            </a:r>
            <a:r>
              <a:rPr lang="en-US" altLang="zh-CN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, j) </a:t>
            </a:r>
            <a:r>
              <a:rPr lang="zh-CN" altLang="en-US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可以</a:t>
            </a:r>
            <a:r>
              <a:rPr lang="en-US" altLang="zh-CN" sz="2000" b="0" i="0" dirty="0" err="1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dp</a:t>
            </a:r>
            <a:r>
              <a:rPr lang="en-US" altLang="zh-CN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(</a:t>
            </a:r>
            <a:r>
              <a:rPr lang="en-US" altLang="zh-CN" sz="2000" b="0" i="0" dirty="0" err="1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i</a:t>
            </a:r>
            <a:r>
              <a:rPr lang="en-US" altLang="zh-CN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, j-1) </a:t>
            </a:r>
            <a:r>
              <a:rPr lang="zh-CN" altLang="en-US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和 </a:t>
            </a:r>
            <a:r>
              <a:rPr lang="en-US" altLang="zh-CN" sz="2000" b="0" i="0" dirty="0" err="1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dp</a:t>
            </a:r>
            <a:r>
              <a:rPr lang="en-US" altLang="zh-CN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(i-1, j) </a:t>
            </a:r>
            <a:r>
              <a:rPr lang="zh-CN" altLang="en-US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两个状态推导出来。这就说明，这个问题符合</a:t>
            </a:r>
            <a:r>
              <a:rPr lang="zh-CN" altLang="en-US" sz="2000" b="1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“最优子结构”</a:t>
            </a:r>
            <a:r>
              <a:rPr lang="zh-CN" altLang="en-US" sz="20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。</a:t>
            </a:r>
            <a:endParaRPr lang="zh-CN" altLang="en-US" sz="20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2E9A962-F3E5-42A5-A0B1-A3A30EAEF23D}"/>
              </a:ext>
            </a:extLst>
          </p:cNvPr>
          <p:cNvSpPr txBox="1"/>
          <p:nvPr/>
        </p:nvSpPr>
        <p:spPr>
          <a:xfrm>
            <a:off x="1723604" y="4202862"/>
            <a:ext cx="7420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状态转移方程</a:t>
            </a:r>
            <a:r>
              <a:rPr lang="en-US" altLang="zh-CN" dirty="0"/>
              <a:t>:</a:t>
            </a:r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][j]=min(</a:t>
            </a:r>
            <a:r>
              <a:rPr lang="en-US" altLang="zh-CN" dirty="0" err="1"/>
              <a:t>dp</a:t>
            </a:r>
            <a:r>
              <a:rPr lang="en-US" altLang="zh-CN" dirty="0"/>
              <a:t>[i-1][j],</a:t>
            </a:r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][j-1])+w[</a:t>
            </a:r>
            <a:r>
              <a:rPr lang="en-US" altLang="zh-CN" dirty="0" err="1"/>
              <a:t>i</a:t>
            </a:r>
            <a:r>
              <a:rPr lang="en-US" altLang="zh-CN" dirty="0"/>
              <a:t>][j];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27701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2E4950C-BD1B-4801-83E6-E432E8E24F5D}"/>
              </a:ext>
            </a:extLst>
          </p:cNvPr>
          <p:cNvSpPr txBox="1"/>
          <p:nvPr/>
        </p:nvSpPr>
        <p:spPr>
          <a:xfrm>
            <a:off x="382385" y="133524"/>
            <a:ext cx="10823171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4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下面我们分析下已经学过的三种算法思想</a:t>
            </a:r>
            <a:r>
              <a:rPr lang="en-US" altLang="zh-CN" sz="24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——</a:t>
            </a:r>
            <a:r>
              <a:rPr lang="zh-CN" altLang="en-US" sz="24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贪心、分治和动态规划，看它们之间有什么区别和联系。</a:t>
            </a:r>
          </a:p>
          <a:p>
            <a:pPr algn="just"/>
            <a:r>
              <a:rPr lang="zh-CN" altLang="en-US" sz="24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贪心和动规，都可以抽象成本节的多阶段决策最优解模型，而分治算法解决的问题尽管大部分也是最优解问题，但是，大部分都不能抽象成多阶段决策模型。</a:t>
            </a:r>
          </a:p>
          <a:p>
            <a:pPr algn="just"/>
            <a:endParaRPr lang="en-US" altLang="zh-CN" sz="2400" b="0" i="0" dirty="0">
              <a:solidFill>
                <a:srgbClr val="555555"/>
              </a:solidFill>
              <a:effectLst/>
              <a:latin typeface="Lato" panose="020F0502020204030203" pitchFamily="34" charset="0"/>
            </a:endParaRPr>
          </a:p>
          <a:p>
            <a:pPr algn="just"/>
            <a:r>
              <a:rPr lang="zh-CN" altLang="en-US" sz="24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能用动态规划解决的问题，需要满足三个特征，最优子结构、无后效性和重复子问题。在重复子问题这一点上，动态规划和分治算法的区分非常明显。</a:t>
            </a:r>
            <a:r>
              <a:rPr lang="zh-CN" altLang="en-US" sz="2400" b="1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分治算法要求分割成的子问题，不能有重复子问题，而动态规划正好相反，动态规划之所以高效，就是因为回溯算法实现中存在大量的重复子问题。</a:t>
            </a:r>
            <a:endParaRPr lang="zh-CN" altLang="en-US" sz="2400" b="0" i="0" dirty="0">
              <a:solidFill>
                <a:srgbClr val="555555"/>
              </a:solidFill>
              <a:effectLst/>
              <a:latin typeface="Lato" panose="020F0502020204030203" pitchFamily="34" charset="0"/>
            </a:endParaRPr>
          </a:p>
          <a:p>
            <a:pPr algn="just"/>
            <a:r>
              <a:rPr lang="zh-CN" altLang="en-US" sz="2400" b="1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贪心算法实际上是动态规划算法的一种特殊情况。</a:t>
            </a:r>
            <a:r>
              <a:rPr lang="zh-CN" altLang="en-US" sz="24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它解决问题起来更加高效</a:t>
            </a:r>
            <a:r>
              <a:rPr lang="en-US" altLang="zh-CN" sz="2400" dirty="0">
                <a:solidFill>
                  <a:srgbClr val="555555"/>
                </a:solidFill>
                <a:latin typeface="Lato" panose="020F0502020204030203" pitchFamily="34" charset="0"/>
              </a:rPr>
              <a:t>,</a:t>
            </a:r>
            <a:r>
              <a:rPr lang="zh-CN" altLang="en-US" sz="24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不过，它可以解决的问题也更加有限。它能解决的问题需要满足三个条件，最优子结构、无后效性和贪心选择性。其中，最优子结构、无后效性跟动态规划中的无异。“贪心选择性”的意思是，通过局部最优的选择，能产生全局的最优选择。每一个阶段，我们都选择当前看起来最优的决策，所有阶段的决策完成之后，最终由这些局部最优解构成全局最优解。</a:t>
            </a:r>
          </a:p>
        </p:txBody>
      </p:sp>
    </p:spTree>
    <p:extLst>
      <p:ext uri="{BB962C8B-B14F-4D97-AF65-F5344CB8AC3E}">
        <p14:creationId xmlns:p14="http://schemas.microsoft.com/office/powerpoint/2010/main" val="3808252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0C70FE-A592-4A37-8214-7C916BC6F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DAG</a:t>
            </a:r>
            <a:r>
              <a:rPr lang="zh-CN" altLang="en-US" dirty="0"/>
              <a:t>模型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1DD20A-2AA5-4D30-A081-6F8743C67C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/>
              <a:t>Directed acyclic graph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600114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E7CC0CD-40AD-45E8-91BB-6B975CEFE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b="1" dirty="0">
                <a:solidFill>
                  <a:srgbClr val="314659"/>
                </a:solidFill>
                <a:latin typeface="Lato" panose="020F0502020204030203" pitchFamily="34" charset="0"/>
              </a:rPr>
              <a:t>嵌套矩形</a:t>
            </a:r>
            <a:r>
              <a:rPr lang="en-US" altLang="zh-CN" sz="3600" b="1" dirty="0">
                <a:solidFill>
                  <a:srgbClr val="314659"/>
                </a:solidFill>
                <a:latin typeface="Lato" panose="020F0502020204030203" pitchFamily="34" charset="0"/>
              </a:rPr>
              <a:t>(</a:t>
            </a:r>
            <a:r>
              <a:rPr lang="zh-CN" altLang="en-US" sz="3600" b="1" dirty="0">
                <a:solidFill>
                  <a:srgbClr val="314659"/>
                </a:solidFill>
                <a:latin typeface="Lato" panose="020F0502020204030203" pitchFamily="34" charset="0"/>
              </a:rPr>
              <a:t>不固定起点最长路及其字典序</a:t>
            </a:r>
            <a:r>
              <a:rPr lang="en-US" altLang="zh-CN" sz="3600" b="1" dirty="0">
                <a:solidFill>
                  <a:srgbClr val="314659"/>
                </a:solidFill>
                <a:latin typeface="Lato" panose="020F0502020204030203" pitchFamily="34" charset="0"/>
              </a:rPr>
              <a:t>)</a:t>
            </a:r>
            <a:br>
              <a:rPr lang="zh-CN" altLang="en-US" sz="3600" b="1" dirty="0">
                <a:solidFill>
                  <a:srgbClr val="314659"/>
                </a:solidFill>
                <a:latin typeface="Lato" panose="020F0502020204030203" pitchFamily="34" charset="0"/>
              </a:rPr>
            </a:br>
            <a:endParaRPr lang="zh-CN" altLang="en-US" sz="3600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D5F59A3A-A68C-4450-B1D7-F1F9E261C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有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n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个矩形，每个矩形可以用 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(</a:t>
            </a:r>
            <a:r>
              <a:rPr lang="en-US" altLang="zh-CN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a,b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) 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来描述，表示长和宽</a:t>
            </a:r>
            <a:b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</a:b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矩形 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X(</a:t>
            </a:r>
            <a:r>
              <a:rPr lang="en-US" altLang="zh-CN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a,b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) 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可以嵌套在矩形 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Y(</a:t>
            </a:r>
            <a:r>
              <a:rPr lang="en-US" altLang="zh-CN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c,d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) 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中，当且仅当 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a&lt;</a:t>
            </a:r>
            <a:r>
              <a:rPr lang="en-US" altLang="zh-CN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c,b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&lt;d 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或者 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b&lt;</a:t>
            </a:r>
            <a:r>
              <a:rPr lang="en-US" altLang="zh-CN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c,a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&lt;d(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旋转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90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度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)</a:t>
            </a:r>
            <a:b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</a:b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例如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(1,5)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可以嵌套在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(6,2)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内，但不能嵌套在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(3,4)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中</a:t>
            </a:r>
            <a:b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</a:b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你的任务是</a:t>
            </a:r>
            <a:r>
              <a:rPr lang="zh-CN" altLang="en-US" b="1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选出尽可能多的矩形排成一行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，使得除最后一个外，每一个矩形都可以嵌套在下一个矩形</a:t>
            </a:r>
            <a:r>
              <a:rPr lang="zh-CN" altLang="en-US" dirty="0">
                <a:solidFill>
                  <a:srgbClr val="314659"/>
                </a:solidFill>
                <a:latin typeface="Lato" panose="020F0502020204030203" pitchFamily="34" charset="0"/>
              </a:rPr>
              <a:t>内。 输出最多的嵌套数。</a:t>
            </a:r>
            <a:endParaRPr lang="en-US" altLang="zh-CN" dirty="0">
              <a:solidFill>
                <a:srgbClr val="314659"/>
              </a:solidFill>
              <a:latin typeface="Lato" panose="020F0502020204030203" pitchFamily="34" charset="0"/>
            </a:endParaRPr>
          </a:p>
          <a:p>
            <a:pPr algn="l"/>
            <a:r>
              <a:rPr lang="zh-CN" altLang="en-US" dirty="0"/>
              <a:t>样例</a:t>
            </a:r>
            <a:r>
              <a:rPr lang="en-US" altLang="zh-CN" dirty="0"/>
              <a:t>:</a:t>
            </a:r>
          </a:p>
          <a:p>
            <a:pPr lvl="6"/>
            <a:r>
              <a:rPr lang="en-US" altLang="zh-CN" sz="2800" dirty="0"/>
              <a:t>N=5</a:t>
            </a:r>
          </a:p>
          <a:p>
            <a:pPr lvl="6"/>
            <a:r>
              <a:rPr lang="en-US" altLang="zh-CN" sz="2800" dirty="0"/>
              <a:t>3 5        4 6					</a:t>
            </a:r>
            <a:r>
              <a:rPr lang="en-US" altLang="zh-CN" sz="2800" dirty="0" err="1"/>
              <a:t>ans</a:t>
            </a:r>
            <a:r>
              <a:rPr lang="en-US" altLang="zh-CN" sz="2800" dirty="0"/>
              <a:t>=3</a:t>
            </a:r>
          </a:p>
          <a:p>
            <a:pPr lvl="6"/>
            <a:r>
              <a:rPr lang="en-US" altLang="zh-CN" sz="2800" dirty="0"/>
              <a:t>2 3	    7 4</a:t>
            </a:r>
          </a:p>
          <a:p>
            <a:pPr lvl="6"/>
            <a:r>
              <a:rPr lang="en-US" altLang="zh-CN" sz="2800" dirty="0"/>
              <a:t>6 6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90460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BAB32C-F17F-482C-908D-8985CEB9701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968347" y="1077027"/>
            <a:ext cx="10058400" cy="4051300"/>
          </a:xfrm>
        </p:spPr>
        <p:txBody>
          <a:bodyPr/>
          <a:lstStyle/>
          <a:p>
            <a:pPr algn="l"/>
            <a:r>
              <a:rPr lang="zh-CN" altLang="en-US" b="1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分析</a:t>
            </a:r>
          </a:p>
          <a:p>
            <a:pPr algn="l"/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矩形间的“可嵌套”关系是一个典型的二元关系，二元关系可以用图来建模</a:t>
            </a:r>
            <a:b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</a:b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如果矩形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X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可以嵌套在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Y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中，则就从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X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到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Y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连一条有向边</a:t>
            </a:r>
            <a:b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</a:b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这个图是无环的，因为一个矩形无法直接或或间接的嵌套在自己的内部</a:t>
            </a:r>
            <a:b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</a:b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也即是说这是以一个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DAG</a:t>
            </a:r>
            <a:b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</a:b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因此，我们就是在求</a:t>
            </a:r>
            <a:r>
              <a:rPr lang="en-US" altLang="zh-CN" b="1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DAG</a:t>
            </a:r>
            <a:r>
              <a:rPr lang="zh-CN" altLang="en-US" b="1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上的不固定起点的最长路径</a:t>
            </a:r>
            <a:endParaRPr lang="zh-CN" altLang="en-US" b="0" i="0" dirty="0">
              <a:solidFill>
                <a:srgbClr val="314659"/>
              </a:solidFill>
              <a:effectLst/>
              <a:latin typeface="Lato" panose="020F0502020204030203" pitchFamily="34" charset="0"/>
            </a:endParaRPr>
          </a:p>
          <a:p>
            <a:endParaRPr lang="zh-CN" alt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7CF3504-5C12-4DAD-B335-3B2D6D188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0416" y="3108522"/>
            <a:ext cx="4212157" cy="3478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64676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E89D36AB-6038-4951-9B38-AFFF24AAA0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000" y="1911295"/>
            <a:ext cx="10964334" cy="29546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44" tIns="0" rIns="19044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设 d(i) 表示从结点 i 出发的最长路长度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第一步只能走到它的相邻点，那么我们就有：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rgbClr val="314659"/>
              </a:solidFill>
              <a:effectLst/>
              <a:latin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314659"/>
                </a:solidFill>
                <a:effectLst/>
                <a:latin typeface="Lato" panose="020F0502020204030203" pitchFamily="34" charset="0"/>
              </a:rPr>
            </a:b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2D8CF0"/>
                </a:solidFill>
                <a:effectLst/>
                <a:latin typeface="Lato" panose="020F0502020204030203" pitchFamily="34" charset="0"/>
              </a:rPr>
              <a:t>                                   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其中，E为边集，则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最终答案是所有的d(i)中的最大值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，因此可以用递推或者记忆化搜索计算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第一步，建图，假如用邻接矩阵将矩形间的关系保存在矩阵G中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第二步，编写记忆化搜索程序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4102" name="Picture 6">
            <a:hlinkClick r:id="rId2"/>
            <a:extLst>
              <a:ext uri="{FF2B5EF4-FFF2-40B4-BE49-F238E27FC236}">
                <a16:creationId xmlns:a16="http://schemas.microsoft.com/office/drawing/2014/main" id="{52EB461A-BF13-4F2E-949D-B1344BAAF4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1467" y="2745316"/>
            <a:ext cx="3362325" cy="514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2739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71F61049-3221-485D-9B92-7EFF1E7DA292}"/>
              </a:ext>
            </a:extLst>
          </p:cNvPr>
          <p:cNvSpPr txBox="1"/>
          <p:nvPr/>
        </p:nvSpPr>
        <p:spPr>
          <a:xfrm>
            <a:off x="635000" y="1532467"/>
            <a:ext cx="97874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9EDFA1B-6D51-4E99-ABAC-9B41AC0B11F2}"/>
              </a:ext>
            </a:extLst>
          </p:cNvPr>
          <p:cNvSpPr txBox="1"/>
          <p:nvPr/>
        </p:nvSpPr>
        <p:spPr>
          <a:xfrm>
            <a:off x="1454727" y="906088"/>
            <a:ext cx="769135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A71D5D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nline int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 err="1">
                <a:solidFill>
                  <a:srgbClr val="795DA3"/>
                </a:solidFill>
                <a:effectLst/>
                <a:latin typeface="Consolas" panose="020B0609020204030204" pitchFamily="49" charset="0"/>
              </a:rPr>
              <a:t>dp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) { </a:t>
            </a:r>
          </a:p>
          <a:p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	</a:t>
            </a:r>
            <a:r>
              <a:rPr lang="en-US" altLang="zh-CN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ans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= d[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];</a:t>
            </a:r>
            <a:r>
              <a:rPr lang="en-US" altLang="zh-CN" b="0" i="0" dirty="0">
                <a:solidFill>
                  <a:srgbClr val="969896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zh-CN" altLang="en-US" b="0" i="0" dirty="0">
                <a:solidFill>
                  <a:srgbClr val="969896"/>
                </a:solidFill>
                <a:effectLst/>
                <a:latin typeface="Consolas" panose="020B0609020204030204" pitchFamily="49" charset="0"/>
              </a:rPr>
              <a:t>为表项</a:t>
            </a:r>
            <a:r>
              <a:rPr lang="en-US" altLang="zh-CN" b="0" i="0" dirty="0">
                <a:solidFill>
                  <a:srgbClr val="969896"/>
                </a:solidFill>
                <a:effectLst/>
                <a:latin typeface="Consolas" panose="020B0609020204030204" pitchFamily="49" charset="0"/>
              </a:rPr>
              <a:t>d[</a:t>
            </a:r>
            <a:r>
              <a:rPr lang="en-US" altLang="zh-CN" b="0" i="0" dirty="0" err="1">
                <a:solidFill>
                  <a:srgbClr val="96989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i="0" dirty="0">
                <a:solidFill>
                  <a:srgbClr val="96989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zh-CN" altLang="en-US" b="0" i="0" dirty="0">
                <a:solidFill>
                  <a:srgbClr val="969896"/>
                </a:solidFill>
                <a:effectLst/>
                <a:latin typeface="Consolas" panose="020B0609020204030204" pitchFamily="49" charset="0"/>
              </a:rPr>
              <a:t>声明一个引用</a:t>
            </a:r>
            <a:r>
              <a:rPr lang="en-US" altLang="zh-CN" b="0" i="0" dirty="0" err="1">
                <a:solidFill>
                  <a:srgbClr val="969896"/>
                </a:solidFill>
                <a:effectLst/>
                <a:latin typeface="Consolas" panose="020B0609020204030204" pitchFamily="49" charset="0"/>
              </a:rPr>
              <a:t>ans</a:t>
            </a:r>
            <a:r>
              <a:rPr lang="en-US" altLang="zh-CN" b="0" i="0" dirty="0">
                <a:solidFill>
                  <a:srgbClr val="96989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dirty="0">
                <a:solidFill>
                  <a:srgbClr val="969896"/>
                </a:solidFill>
                <a:latin typeface="Consolas" panose="020B0609020204030204" pitchFamily="49" charset="0"/>
              </a:rPr>
              <a:t>	</a:t>
            </a:r>
            <a:r>
              <a:rPr lang="en-US" altLang="zh-CN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ans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altLang="zh-CN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ans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ans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	 </a:t>
            </a:r>
            <a:r>
              <a:rPr lang="en-US" altLang="zh-CN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j=</a:t>
            </a:r>
            <a:r>
              <a:rPr lang="en-US" altLang="zh-CN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;j&lt;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n;j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++) </a:t>
            </a:r>
            <a:r>
              <a:rPr lang="en-US" altLang="zh-CN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(G[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][j]) 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ans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= max(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ans,dp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(j)+</a:t>
            </a:r>
            <a:r>
              <a:rPr lang="en-US" altLang="zh-CN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); 	</a:t>
            </a:r>
            <a:r>
              <a:rPr lang="en-US" altLang="zh-CN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ans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95862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4F0D1886-EFBD-4F17-91D1-8C67D88D6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>
                <a:solidFill>
                  <a:srgbClr val="314659"/>
                </a:solidFill>
                <a:latin typeface="Lato" panose="020F0502020204030203" pitchFamily="34" charset="0"/>
              </a:rPr>
              <a:t>硬币问题</a:t>
            </a:r>
            <a:r>
              <a:rPr lang="en-US" altLang="zh-CN" b="1" dirty="0">
                <a:solidFill>
                  <a:srgbClr val="314659"/>
                </a:solidFill>
                <a:latin typeface="Lato" panose="020F0502020204030203" pitchFamily="34" charset="0"/>
              </a:rPr>
              <a:t>(</a:t>
            </a:r>
            <a:r>
              <a:rPr lang="zh-CN" altLang="en-US" b="1" dirty="0">
                <a:solidFill>
                  <a:srgbClr val="314659"/>
                </a:solidFill>
                <a:latin typeface="Lato" panose="020F0502020204030203" pitchFamily="34" charset="0"/>
              </a:rPr>
              <a:t>固定终点的最长路和最短路</a:t>
            </a:r>
            <a:r>
              <a:rPr lang="en-US" altLang="zh-CN" b="1" dirty="0">
                <a:solidFill>
                  <a:srgbClr val="314659"/>
                </a:solidFill>
                <a:latin typeface="Lato" panose="020F0502020204030203" pitchFamily="34" charset="0"/>
              </a:rPr>
              <a:t>)</a:t>
            </a:r>
            <a:br>
              <a:rPr lang="zh-CN" altLang="en-US" b="1" dirty="0">
                <a:solidFill>
                  <a:srgbClr val="314659"/>
                </a:solidFill>
                <a:latin typeface="Lato" panose="020F0502020204030203" pitchFamily="34" charset="0"/>
              </a:rPr>
            </a:b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4F43984-3515-4671-BF96-63EE71367E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zh-CN" altLang="en-US" sz="2400" b="1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描述</a:t>
            </a:r>
          </a:p>
          <a:p>
            <a:pPr algn="l"/>
            <a:r>
              <a:rPr lang="zh-CN" altLang="en-US" sz="2400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有 </a:t>
            </a:r>
            <a:r>
              <a:rPr lang="en-US" altLang="zh-CN" sz="2400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n </a:t>
            </a:r>
            <a:r>
              <a:rPr lang="zh-CN" altLang="en-US" sz="2400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种硬币，面值分别为</a:t>
            </a:r>
            <a:r>
              <a:rPr lang="en-US" altLang="zh-CN" sz="2400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V1, V2······</a:t>
            </a:r>
            <a:r>
              <a:rPr lang="en-US" altLang="zh-CN" sz="2400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Vn</a:t>
            </a:r>
            <a:r>
              <a:rPr lang="zh-CN" altLang="en-US" sz="2400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，每种都有无限多</a:t>
            </a:r>
            <a:br>
              <a:rPr lang="zh-CN" altLang="en-US" sz="2400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</a:br>
            <a:r>
              <a:rPr lang="zh-CN" altLang="en-US" sz="2400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给定非负整数 </a:t>
            </a:r>
            <a:r>
              <a:rPr lang="en-US" altLang="zh-CN" sz="2400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S </a:t>
            </a:r>
            <a:r>
              <a:rPr lang="zh-CN" altLang="en-US" sz="2400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，可以选用多少个硬币，使得面值之和恰好为</a:t>
            </a:r>
            <a:r>
              <a:rPr lang="en-US" altLang="zh-CN" sz="2400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S</a:t>
            </a:r>
            <a:r>
              <a:rPr lang="zh-CN" altLang="en-US" sz="2400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？</a:t>
            </a:r>
            <a:br>
              <a:rPr lang="zh-CN" altLang="en-US" sz="2400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</a:br>
            <a:r>
              <a:rPr lang="zh-CN" altLang="en-US" sz="2400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输出硬币数目的</a:t>
            </a:r>
            <a:r>
              <a:rPr lang="zh-CN" altLang="en-US" sz="2400" b="1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最大值</a:t>
            </a:r>
            <a:endParaRPr lang="zh-CN" altLang="en-US" sz="2400" b="0" i="0" dirty="0">
              <a:solidFill>
                <a:srgbClr val="314659"/>
              </a:solidFill>
              <a:effectLst/>
              <a:latin typeface="Lato" panose="020F0502020204030203" pitchFamily="34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6086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4469BA-F832-4C16-A0A7-94CD3469D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E73115-9BF1-402E-9A41-0E1E24158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分析</a:t>
            </a:r>
            <a:endParaRPr lang="en-US" altLang="zh-CN" sz="2800" dirty="0"/>
          </a:p>
          <a:p>
            <a:r>
              <a:rPr lang="zh-CN" altLang="en-US" sz="2800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看上去和嵌套矩形问题很不一样，但本题的本质也是</a:t>
            </a:r>
            <a:r>
              <a:rPr lang="en-US" altLang="zh-CN" sz="2800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DAG</a:t>
            </a:r>
            <a:r>
              <a:rPr lang="zh-CN" altLang="en-US" sz="2800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上的路径问题</a:t>
            </a:r>
            <a:br>
              <a:rPr lang="zh-CN" altLang="en-US" sz="2800" dirty="0"/>
            </a:br>
            <a:r>
              <a:rPr lang="zh-CN" altLang="en-US" sz="2800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将每种面值看作一个节点，设初始状态为</a:t>
            </a:r>
            <a:r>
              <a:rPr lang="en-US" altLang="zh-CN" sz="2800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S</a:t>
            </a:r>
            <a:r>
              <a:rPr lang="zh-CN" altLang="en-US" sz="2800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，目标状态为</a:t>
            </a:r>
            <a:r>
              <a:rPr lang="en-US" altLang="zh-CN" sz="2800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0</a:t>
            </a:r>
            <a:br>
              <a:rPr lang="zh-CN" altLang="en-US" sz="2800" dirty="0"/>
            </a:br>
            <a:r>
              <a:rPr lang="zh-CN" altLang="en-US" sz="2800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若当前在状态 </a:t>
            </a:r>
            <a:r>
              <a:rPr lang="en-US" altLang="zh-CN" sz="2800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i</a:t>
            </a:r>
            <a:r>
              <a:rPr lang="zh-CN" altLang="en-US" sz="2800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，每使用一个硬币 </a:t>
            </a:r>
            <a:r>
              <a:rPr lang="en-US" altLang="zh-CN" sz="2800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j</a:t>
            </a:r>
            <a:r>
              <a:rPr lang="zh-CN" altLang="en-US" sz="2800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，状态便转移到</a:t>
            </a:r>
            <a:r>
              <a:rPr lang="en-US" altLang="zh-CN" sz="2800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i</a:t>
            </a:r>
            <a:r>
              <a:rPr lang="en-US" altLang="zh-CN" sz="2800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 – </a:t>
            </a:r>
            <a:r>
              <a:rPr lang="en-US" altLang="zh-CN" sz="2800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Vj</a:t>
            </a:r>
            <a:endParaRPr lang="en-US" altLang="zh-CN" sz="2800" b="0" i="0" dirty="0">
              <a:solidFill>
                <a:srgbClr val="314659"/>
              </a:solidFill>
              <a:effectLst/>
              <a:latin typeface="Lato" panose="020F0502020204030203" pitchFamily="34" charset="0"/>
            </a:endParaRPr>
          </a:p>
          <a:p>
            <a:r>
              <a:rPr lang="zh-CN" altLang="en-US" sz="2800" dirty="0">
                <a:solidFill>
                  <a:srgbClr val="314659"/>
                </a:solidFill>
                <a:latin typeface="Lato" panose="020F0502020204030203" pitchFamily="34" charset="0"/>
              </a:rPr>
              <a:t>很容易写出状态转移方程</a:t>
            </a:r>
            <a:endParaRPr lang="en-US" altLang="zh-CN" sz="2800" dirty="0">
              <a:solidFill>
                <a:srgbClr val="314659"/>
              </a:solidFill>
              <a:latin typeface="Lato" panose="020F0502020204030203" pitchFamily="34" charset="0"/>
            </a:endParaRPr>
          </a:p>
          <a:p>
            <a:pPr lvl="1"/>
            <a:r>
              <a:rPr lang="en-US" altLang="zh-CN" sz="2600" dirty="0" err="1">
                <a:solidFill>
                  <a:srgbClr val="314659"/>
                </a:solidFill>
                <a:latin typeface="Lato" panose="020F0502020204030203" pitchFamily="34" charset="0"/>
              </a:rPr>
              <a:t>dp</a:t>
            </a:r>
            <a:r>
              <a:rPr lang="en-US" altLang="zh-CN" sz="2600" dirty="0">
                <a:solidFill>
                  <a:srgbClr val="314659"/>
                </a:solidFill>
                <a:latin typeface="Lato" panose="020F0502020204030203" pitchFamily="34" charset="0"/>
              </a:rPr>
              <a:t>(</a:t>
            </a:r>
            <a:r>
              <a:rPr lang="en-US" altLang="zh-CN" sz="2600" dirty="0" err="1">
                <a:solidFill>
                  <a:srgbClr val="314659"/>
                </a:solidFill>
                <a:latin typeface="Lato" panose="020F0502020204030203" pitchFamily="34" charset="0"/>
              </a:rPr>
              <a:t>i</a:t>
            </a:r>
            <a:r>
              <a:rPr lang="en-US" altLang="zh-CN" sz="2600" dirty="0">
                <a:solidFill>
                  <a:srgbClr val="314659"/>
                </a:solidFill>
                <a:latin typeface="Lato" panose="020F0502020204030203" pitchFamily="34" charset="0"/>
              </a:rPr>
              <a:t>)=Max(</a:t>
            </a:r>
            <a:r>
              <a:rPr lang="en-US" altLang="zh-CN" sz="2600" dirty="0" err="1">
                <a:solidFill>
                  <a:srgbClr val="314659"/>
                </a:solidFill>
                <a:latin typeface="Lato" panose="020F0502020204030203" pitchFamily="34" charset="0"/>
              </a:rPr>
              <a:t>dp</a:t>
            </a:r>
            <a:r>
              <a:rPr lang="en-US" altLang="zh-CN" sz="2600" dirty="0">
                <a:solidFill>
                  <a:srgbClr val="314659"/>
                </a:solidFill>
                <a:latin typeface="Lato" panose="020F0502020204030203" pitchFamily="34" charset="0"/>
              </a:rPr>
              <a:t>(</a:t>
            </a:r>
            <a:r>
              <a:rPr lang="en-US" altLang="zh-CN" sz="2600" dirty="0" err="1">
                <a:solidFill>
                  <a:srgbClr val="314659"/>
                </a:solidFill>
                <a:latin typeface="Lato" panose="020F0502020204030203" pitchFamily="34" charset="0"/>
              </a:rPr>
              <a:t>i-Vj</a:t>
            </a:r>
            <a:r>
              <a:rPr lang="en-US" altLang="zh-CN" sz="2600" dirty="0">
                <a:solidFill>
                  <a:srgbClr val="314659"/>
                </a:solidFill>
                <a:latin typeface="Lato" panose="020F0502020204030203" pitchFamily="34" charset="0"/>
              </a:rPr>
              <a:t>)+1)</a:t>
            </a:r>
            <a:endParaRPr lang="zh-CN" altLang="en-US" sz="2600" dirty="0"/>
          </a:p>
        </p:txBody>
      </p:sp>
    </p:spTree>
    <p:extLst>
      <p:ext uri="{BB962C8B-B14F-4D97-AF65-F5344CB8AC3E}">
        <p14:creationId xmlns:p14="http://schemas.microsoft.com/office/powerpoint/2010/main" val="31356346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D313665-9D4F-4291-8CF9-C28D023A676A}"/>
              </a:ext>
            </a:extLst>
          </p:cNvPr>
          <p:cNvSpPr txBox="1"/>
          <p:nvPr/>
        </p:nvSpPr>
        <p:spPr>
          <a:xfrm>
            <a:off x="1303020" y="2505670"/>
            <a:ext cx="859743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 err="1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ininline</a:t>
            </a:r>
            <a:r>
              <a:rPr lang="en-US" altLang="zh-CN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 int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 err="1">
                <a:solidFill>
                  <a:srgbClr val="795DA3"/>
                </a:solidFill>
                <a:effectLst/>
                <a:latin typeface="Consolas" panose="020B0609020204030204" pitchFamily="49" charset="0"/>
              </a:rPr>
              <a:t>dp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S)</a:t>
            </a:r>
          </a:p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	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(vis[S]) </a:t>
            </a:r>
            <a:r>
              <a:rPr lang="en-US" altLang="zh-CN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d[S]; </a:t>
            </a:r>
          </a:p>
          <a:p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	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vis[S] = </a:t>
            </a:r>
            <a:r>
              <a:rPr lang="en-US" altLang="zh-CN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     </a:t>
            </a:r>
            <a:r>
              <a:rPr lang="en-US" altLang="zh-CN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ans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= d[S]; </a:t>
            </a:r>
          </a:p>
          <a:p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     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ans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= -(</a:t>
            </a:r>
            <a:r>
              <a:rPr lang="en-US" altLang="zh-CN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zh-CN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     </a:t>
            </a:r>
            <a:r>
              <a:rPr lang="en-US" altLang="zh-CN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;i&lt;=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n;i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++) </a:t>
            </a:r>
          </a:p>
          <a:p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     </a:t>
            </a:r>
            <a:r>
              <a:rPr lang="en-US" altLang="zh-CN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(S &gt;= V[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]) 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ans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= max(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ans,dp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(S-V[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])+</a:t>
            </a:r>
            <a:r>
              <a:rPr lang="en-US" altLang="zh-CN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     </a:t>
            </a:r>
            <a:r>
              <a:rPr lang="en-US" altLang="zh-CN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ans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802554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">
            <a:extLst>
              <a:ext uri="{FF2B5EF4-FFF2-40B4-BE49-F238E27FC236}">
                <a16:creationId xmlns:a16="http://schemas.microsoft.com/office/drawing/2014/main" id="{B72FC5E3-01AF-4AF0-8584-AA60A1C74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138" y="870897"/>
            <a:ext cx="10050088" cy="553997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由于DAG最长 (短）路的特殊性，有两种“对称”的状态定义方式。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状态1：设 d(i) 为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从 i 出发的最长路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，则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314659"/>
              </a:solidFill>
              <a:effectLst/>
              <a:latin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14659"/>
                </a:solidFill>
                <a:effectLst/>
                <a:latin typeface="Lato" panose="020F0502020204030203" pitchFamily="34" charset="0"/>
              </a:rPr>
            </a:b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2D8CF0"/>
                </a:solidFill>
                <a:effectLst/>
                <a:latin typeface="Lato" panose="020F0502020204030203" pitchFamily="34" charset="0"/>
              </a:rPr>
              <a:t>                                            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rgbClr val="314659"/>
              </a:solidFill>
              <a:effectLst/>
              <a:latin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状态2：设 d(i) 为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以 i 结束的最长路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，则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314659"/>
              </a:solidFill>
              <a:effectLst/>
              <a:latin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zh-CN" sz="2000" dirty="0">
              <a:solidFill>
                <a:srgbClr val="314659"/>
              </a:solidFill>
              <a:latin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314659"/>
              </a:solidFill>
              <a:effectLst/>
              <a:latin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使用状态2时，状态转移方程可能不好计算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。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因为在很多时候，可以方便地枚举从某个结点i出发的所有边 (i , j），却不方便“反着”枚举 (j , i）。特别是在有些题目中，这些边具有明显的实际背景，对应的过程不可逆。</a:t>
            </a:r>
            <a:endParaRPr lang="en-US" altLang="zh-CN" sz="2000" dirty="0">
              <a:solidFill>
                <a:srgbClr val="314659"/>
              </a:solidFill>
              <a:latin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这时需要用“刷表法”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314659"/>
              </a:solidFill>
              <a:effectLst/>
              <a:latin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传统的递推法可以表示成“对于每个状态 i，计算f (i）”，或者称为“填表法”。这需要对于每个状态 i，找到f (i）依赖的所有状态，在某些情况下并不方便。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314659"/>
              </a:solidFill>
              <a:effectLst/>
              <a:latin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另一种方法是“对于每个状态i，更新f (i）所影响到的状态”，称为“刷表法”。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314659"/>
              </a:solidFill>
              <a:effectLst/>
              <a:latin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对应到DAG最长路的问题中，就相当于按照拓扑序枚举 i，对于每个 i，枚举边 (i , j），然后更新d[j] = max(d[j],d[i]+1)。一般不把这个式子叫做“状态转移方程”，因为它不是一个可以直接计算d[j]的方程，而只是一个更新公式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　　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35" name="Picture 11">
            <a:hlinkClick r:id="rId2"/>
            <a:extLst>
              <a:ext uri="{FF2B5EF4-FFF2-40B4-BE49-F238E27FC236}">
                <a16:creationId xmlns:a16="http://schemas.microsoft.com/office/drawing/2014/main" id="{56741B3C-D454-4D8D-BCAB-E6D89FC76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3254" y="1627358"/>
            <a:ext cx="35242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hlinkClick r:id="rId4"/>
            <a:extLst>
              <a:ext uri="{FF2B5EF4-FFF2-40B4-BE49-F238E27FC236}">
                <a16:creationId xmlns:a16="http://schemas.microsoft.com/office/drawing/2014/main" id="{692E3A4B-6114-4816-8D68-E039F82B1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3254" y="2520474"/>
            <a:ext cx="3552825" cy="390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40532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B19CC7-FB9A-4DE3-8725-9C228CAE8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hlinkClick r:id="rId2"/>
              </a:rPr>
              <a:t>城市里的间谍 </a:t>
            </a:r>
            <a:r>
              <a:rPr lang="en-US" altLang="zh-CN" sz="2800" dirty="0">
                <a:hlinkClick r:id="rId2"/>
              </a:rPr>
              <a:t>A Spy in the Metro - </a:t>
            </a:r>
            <a:r>
              <a:rPr lang="zh-CN" altLang="en-US" sz="2800" dirty="0">
                <a:hlinkClick r:id="rId2"/>
              </a:rPr>
              <a:t>洛谷 </a:t>
            </a:r>
            <a:r>
              <a:rPr lang="en-US" altLang="zh-CN" sz="2800" dirty="0">
                <a:hlinkClick r:id="rId2"/>
              </a:rPr>
              <a:t>| </a:t>
            </a:r>
            <a:r>
              <a:rPr lang="zh-CN" altLang="en-US" sz="2800" dirty="0">
                <a:hlinkClick r:id="rId2"/>
              </a:rPr>
              <a:t>计算机科学教育新生态 </a:t>
            </a:r>
            <a:r>
              <a:rPr lang="en-US" altLang="zh-CN" sz="2800" dirty="0">
                <a:hlinkClick r:id="rId2"/>
              </a:rPr>
              <a:t>(luogu.com.cn)</a:t>
            </a:r>
            <a:endParaRPr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69034E-F5F8-498E-A22B-22ECC5ED60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分析</a:t>
            </a:r>
            <a:endParaRPr lang="en-US" altLang="zh-CN" dirty="0"/>
          </a:p>
          <a:p>
            <a:pPr algn="l"/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时间是单向流逝的，是一个天然的“序”，而影响到决策的只有当前时间和所处的车站</a:t>
            </a:r>
            <a:b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</a:b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可以用 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d(</a:t>
            </a:r>
            <a:r>
              <a:rPr lang="en-US" altLang="zh-CN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i,j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) 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表示：在时刻</a:t>
            </a:r>
            <a:r>
              <a:rPr lang="en-US" altLang="zh-CN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i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，处于在车站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j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（编号为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1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～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n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）时，最少还需要等待的时间</a:t>
            </a:r>
            <a:b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</a:b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边界条件是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d(</a:t>
            </a:r>
            <a:r>
              <a:rPr lang="en-US" altLang="zh-CN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T,n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)=0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，其他 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d(</a:t>
            </a:r>
            <a:r>
              <a:rPr lang="en-US" altLang="zh-CN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T,i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)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（</a:t>
            </a:r>
            <a:r>
              <a:rPr lang="en-US" altLang="zh-CN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i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不等于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n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）为正无穷</a:t>
            </a:r>
          </a:p>
          <a:p>
            <a:pPr algn="l"/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有如下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3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种决策。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等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1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分钟。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搭乘往右开的车（如果有）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搭乘往左开的车（如果有）</a:t>
            </a:r>
          </a:p>
          <a:p>
            <a:pPr algn="l"/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在程序中定义一个三维数组</a:t>
            </a:r>
            <a:r>
              <a:rPr lang="en-US" altLang="zh-CN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has_train</a:t>
            </a:r>
            <a:b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</a:br>
            <a:r>
              <a:rPr lang="en-US" altLang="zh-CN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has_train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 [t] [</a:t>
            </a:r>
            <a:r>
              <a:rPr lang="en-US" altLang="zh-CN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i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] [0] 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表示：时刻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t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，在车站</a:t>
            </a:r>
            <a:r>
              <a:rPr lang="en-US" altLang="zh-CN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i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是否有往右开的火车</a:t>
            </a:r>
            <a:b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</a:br>
            <a:r>
              <a:rPr lang="en-US" altLang="zh-CN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has_train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 [t] [</a:t>
            </a:r>
            <a:r>
              <a:rPr lang="en-US" altLang="zh-CN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i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] [1] 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表示：时刻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t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，在车站</a:t>
            </a:r>
            <a:r>
              <a:rPr lang="en-US" altLang="zh-CN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i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是否有往左开的火车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50153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EC138EB-94CE-4BFF-A835-730A4B2CCA97}"/>
              </a:ext>
            </a:extLst>
          </p:cNvPr>
          <p:cNvSpPr txBox="1"/>
          <p:nvPr/>
        </p:nvSpPr>
        <p:spPr>
          <a:xfrm>
            <a:off x="714895" y="1512916"/>
            <a:ext cx="896112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&lt;= n</a:t>
            </a:r>
            <a:r>
              <a:rPr lang="en-US" altLang="zh-CN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++) 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dp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[T][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] = INF; </a:t>
            </a:r>
          </a:p>
          <a:p>
            <a:r>
              <a:rPr lang="en-US" altLang="zh-C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dp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[T][n] = </a:t>
            </a:r>
            <a:r>
              <a:rPr lang="en-US" altLang="zh-CN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= T</a:t>
            </a:r>
            <a:r>
              <a:rPr lang="en-US" altLang="zh-CN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altLang="zh-CN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	</a:t>
            </a:r>
            <a:r>
              <a:rPr lang="en-US" altLang="zh-CN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j = </a:t>
            </a:r>
            <a:r>
              <a:rPr lang="en-US" altLang="zh-CN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; j &lt;=n ; 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j++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) { </a:t>
            </a:r>
          </a:p>
          <a:p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		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dp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][j] = 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dp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[i+</a:t>
            </a:r>
            <a:r>
              <a:rPr lang="en-US" altLang="zh-CN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][j] + </a:t>
            </a:r>
            <a:r>
              <a:rPr lang="en-US" altLang="zh-CN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		</a:t>
            </a:r>
            <a:r>
              <a:rPr lang="en-US" altLang="zh-CN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(j&lt;n &amp;&amp; 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has_train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][j][</a:t>
            </a:r>
            <a:r>
              <a:rPr lang="en-US" altLang="zh-CN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] &amp;&amp; 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i+t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[j] &lt;= T) </a:t>
            </a:r>
          </a:p>
          <a:p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			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dp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][j] = min(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dp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][j],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dp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i+t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[j][j+</a:t>
            </a:r>
            <a:r>
              <a:rPr lang="en-US" altLang="zh-CN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]])</a:t>
            </a:r>
            <a:r>
              <a:rPr lang="en-US" altLang="zh-CN" b="0" i="0" dirty="0">
                <a:solidFill>
                  <a:srgbClr val="969896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zh-CN" altLang="en-US" b="0" i="0" dirty="0">
                <a:solidFill>
                  <a:srgbClr val="969896"/>
                </a:solidFill>
                <a:effectLst/>
                <a:latin typeface="Consolas" panose="020B0609020204030204" pitchFamily="49" charset="0"/>
              </a:rPr>
              <a:t>右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altLang="zh-CN" b="0" i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		</a:t>
            </a:r>
            <a:r>
              <a:rPr lang="en-US" altLang="zh-CN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(j&gt;</a:t>
            </a:r>
            <a:r>
              <a:rPr lang="en-US" altLang="zh-CN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has_train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][j][</a:t>
            </a:r>
            <a:r>
              <a:rPr lang="en-US" altLang="zh-CN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] &amp;&amp; 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i+t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[j</a:t>
            </a:r>
            <a:r>
              <a:rPr lang="en-US" altLang="zh-CN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] &lt;= T) </a:t>
            </a:r>
          </a:p>
          <a:p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			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dp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][j] = min(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dp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][j],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dp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i+t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[j</a:t>
            </a:r>
            <a:r>
              <a:rPr lang="en-US" altLang="zh-CN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][j</a:t>
            </a:r>
            <a:r>
              <a:rPr lang="en-US" altLang="zh-CN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]])</a:t>
            </a:r>
            <a:r>
              <a:rPr lang="en-US" altLang="zh-CN" b="0" i="0" dirty="0">
                <a:solidFill>
                  <a:srgbClr val="969896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zh-CN" altLang="en-US" b="0" i="0" dirty="0">
                <a:solidFill>
                  <a:srgbClr val="969896"/>
                </a:solidFill>
                <a:effectLst/>
                <a:latin typeface="Consolas" panose="020B0609020204030204" pitchFamily="49" charset="0"/>
              </a:rPr>
              <a:t>左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} } </a:t>
            </a:r>
            <a:r>
              <a:rPr lang="en-US" altLang="zh-CN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dp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zh-CN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]) </a:t>
            </a:r>
            <a:r>
              <a:rPr lang="en-US" altLang="zh-CN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puts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i="0" dirty="0">
                <a:solidFill>
                  <a:srgbClr val="DF6000"/>
                </a:solidFill>
                <a:effectLst/>
                <a:latin typeface="Consolas" panose="020B0609020204030204" pitchFamily="49" charset="0"/>
              </a:rPr>
              <a:t>"impossible"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i="0" dirty="0">
                <a:solidFill>
                  <a:srgbClr val="DF6000"/>
                </a:solidFill>
                <a:effectLst/>
                <a:latin typeface="Consolas" panose="020B0609020204030204" pitchFamily="49" charset="0"/>
              </a:rPr>
              <a:t>"%d</a:t>
            </a:r>
            <a:r>
              <a:rPr lang="en-US" altLang="zh-CN" dirty="0">
                <a:solidFill>
                  <a:srgbClr val="DF6000"/>
                </a:solidFill>
                <a:latin typeface="Consolas" panose="020B0609020204030204" pitchFamily="49" charset="0"/>
              </a:rPr>
              <a:t>\n</a:t>
            </a:r>
            <a:r>
              <a:rPr lang="en-US" altLang="zh-CN" b="0" i="0" dirty="0">
                <a:solidFill>
                  <a:srgbClr val="DF6000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lang="en-US" altLang="zh-CN" b="0" i="0" dirty="0" err="1">
                <a:solidFill>
                  <a:srgbClr val="DF6000"/>
                </a:solidFill>
                <a:effectLst/>
                <a:latin typeface="Consolas" panose="020B0609020204030204" pitchFamily="49" charset="0"/>
              </a:rPr>
              <a:t>dp</a:t>
            </a:r>
            <a:r>
              <a:rPr lang="en-US" altLang="zh-CN" b="0" i="0" dirty="0">
                <a:solidFill>
                  <a:srgbClr val="DF6000"/>
                </a:solidFill>
                <a:effectLst/>
                <a:latin typeface="Consolas" panose="020B0609020204030204" pitchFamily="49" charset="0"/>
              </a:rPr>
              <a:t>[0][1]</a:t>
            </a:r>
            <a:r>
              <a:rPr lang="en-US" altLang="zh-CN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424054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69EC8A-81FF-482A-9CA6-092E8DCA4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370877-3007-4778-8C9F-DB81C6564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任何时候都只有顶面（底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=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顶）尺寸会影响到后续决策，</a:t>
            </a:r>
            <a:r>
              <a:rPr lang="zh-CN" altLang="en-US" dirty="0">
                <a:solidFill>
                  <a:srgbClr val="314659"/>
                </a:solidFill>
                <a:latin typeface="Lato" panose="020F0502020204030203" pitchFamily="34" charset="0"/>
              </a:rPr>
              <a:t>每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增加一个立方体以后顶面长和宽都必须严格减小，所以这个图也是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DAG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，可以套用最长路</a:t>
            </a:r>
          </a:p>
          <a:p>
            <a:pPr algn="l"/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由于只有三种面，每种立方体只要三个就够了，每输入一个立方体，就可以算作输入了三个不同的立方体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(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任选一条边作为高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)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，然后每一个立方体建边，套用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DAG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上的</a:t>
            </a:r>
            <a:r>
              <a:rPr lang="en-US" altLang="zh-CN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dp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模板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500955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77DF348-A75D-4E8D-9082-F7620D7C2352}"/>
              </a:ext>
            </a:extLst>
          </p:cNvPr>
          <p:cNvSpPr txBox="1"/>
          <p:nvPr/>
        </p:nvSpPr>
        <p:spPr>
          <a:xfrm>
            <a:off x="822960" y="1028343"/>
            <a:ext cx="1014152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从左到右再回来可以转化成：两个人同时从最左出发，沿着两条不同的路径走，最后到达最右点，并且除了起点和终点都只能有一个人经过，自然想到可以用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d(</a:t>
            </a:r>
            <a:r>
              <a:rPr lang="en-US" altLang="zh-CN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i,j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)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表示：一个人走到</a:t>
            </a:r>
            <a:r>
              <a:rPr lang="en-US" altLang="zh-CN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i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点，另一个人走到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j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，还需要走多长距离到达最右点</a:t>
            </a:r>
            <a:b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</a:b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但是我们发现这样状态好像很难转移，比如计算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d(</a:t>
            </a:r>
            <a:r>
              <a:rPr lang="en-US" altLang="zh-CN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i,j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)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时，我们不知道能不能让</a:t>
            </a:r>
            <a:r>
              <a:rPr lang="en-US" altLang="zh-CN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i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上的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1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号同学走到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i+1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，因为从状态里看不出来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i+1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有没有被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j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上的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2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号同学走过，也就是说这个状态定义的难以转移</a:t>
            </a:r>
          </a:p>
          <a:p>
            <a:pPr algn="l"/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然后我们可以简单修改一下定义，让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d(</a:t>
            </a:r>
            <a:r>
              <a:rPr lang="en-US" altLang="zh-CN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i,j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)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表示：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1~max</a:t>
            </a:r>
            <a:r>
              <a:rPr lang="en-US" altLang="zh-CN" dirty="0">
                <a:solidFill>
                  <a:srgbClr val="314659"/>
                </a:solidFill>
                <a:latin typeface="Lato" panose="020F0502020204030203" pitchFamily="34" charset="0"/>
              </a:rPr>
              <a:t>(</a:t>
            </a:r>
            <a:r>
              <a:rPr lang="en-US" altLang="zh-CN" dirty="0" err="1">
                <a:solidFill>
                  <a:srgbClr val="314659"/>
                </a:solidFill>
                <a:latin typeface="Lato" panose="020F0502020204030203" pitchFamily="34" charset="0"/>
              </a:rPr>
              <a:t>i,j</a:t>
            </a:r>
            <a:r>
              <a:rPr lang="en-US" altLang="zh-CN" dirty="0">
                <a:solidFill>
                  <a:srgbClr val="314659"/>
                </a:solidFill>
                <a:latin typeface="Lato" panose="020F0502020204030203" pitchFamily="34" charset="0"/>
              </a:rPr>
              <a:t>)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部走过，且两个人目前位置是</a:t>
            </a:r>
            <a:r>
              <a:rPr lang="en-US" altLang="zh-CN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i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和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j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时，还需要走多长距离到达最右点，在这个定义下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d(</a:t>
            </a:r>
            <a:r>
              <a:rPr lang="en-US" altLang="zh-CN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i,j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)=d(</a:t>
            </a:r>
            <a:r>
              <a:rPr lang="en-US" altLang="zh-CN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j,i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)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，我们再规定始终有</a:t>
            </a:r>
            <a:r>
              <a:rPr lang="en-US" altLang="zh-CN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i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&gt;j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，如果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j&gt;</a:t>
            </a:r>
            <a:r>
              <a:rPr lang="en-US" altLang="zh-CN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i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了，只需要交换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A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、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B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的角色即可，即将</a:t>
            </a:r>
            <a:r>
              <a:rPr lang="en-US" altLang="zh-CN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i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换为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j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，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j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换为</a:t>
            </a:r>
            <a:r>
              <a:rPr lang="en-US" altLang="zh-CN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i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，这样，不管是哪个人，下一步只能走到</a:t>
            </a:r>
            <a:r>
              <a:rPr lang="en-US" altLang="zh-CN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i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＋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1 , </a:t>
            </a:r>
            <a:r>
              <a:rPr lang="en-US" altLang="zh-CN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i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＋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2,…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这些点</a:t>
            </a:r>
          </a:p>
          <a:p>
            <a:pPr algn="l"/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那么问题又来了，如果走到</a:t>
            </a:r>
            <a:r>
              <a:rPr lang="en-US" altLang="zh-CN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i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＋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2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，情况变成了“走过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1~ </a:t>
            </a:r>
            <a:r>
              <a:rPr lang="en-US" altLang="zh-CN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i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和 </a:t>
            </a:r>
            <a:r>
              <a:rPr lang="en-US" altLang="zh-CN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i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＋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2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，但是</a:t>
            </a:r>
            <a:r>
              <a:rPr lang="en-US" altLang="zh-CN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i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＋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1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没走过”，不合法</a:t>
            </a:r>
          </a:p>
          <a:p>
            <a:pPr algn="l"/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那么直接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ban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了这个路不就可以了，也就是说，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d(</a:t>
            </a:r>
            <a:r>
              <a:rPr lang="en-US" altLang="zh-CN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i,j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)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只允许其中一个人走到</a:t>
            </a:r>
            <a:r>
              <a:rPr lang="en-US" altLang="zh-CN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i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＋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1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，而不能走到</a:t>
            </a:r>
            <a:r>
              <a:rPr lang="en-US" altLang="zh-CN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i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＋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2, </a:t>
            </a:r>
            <a:r>
              <a:rPr lang="en-US" altLang="zh-CN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i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＋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3,…</a:t>
            </a:r>
            <a:b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</a:b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换句话说，状态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d(</a:t>
            </a:r>
            <a:r>
              <a:rPr lang="en-US" altLang="zh-CN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i,j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)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只能转移到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d(</a:t>
            </a:r>
            <a:r>
              <a:rPr lang="en-US" altLang="zh-CN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i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＋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1,j)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和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d(</a:t>
            </a:r>
            <a:r>
              <a:rPr lang="en-US" altLang="zh-CN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i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＋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1,i)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，这里意思就是：如果第一个人直接走到了</a:t>
            </a:r>
            <a:r>
              <a:rPr lang="en-US" altLang="zh-CN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i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＋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2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，那么它再也无法走到</a:t>
            </a:r>
            <a:r>
              <a:rPr lang="en-US" altLang="zh-CN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i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＋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1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了，只能靠第二个人走到</a:t>
            </a:r>
            <a:r>
              <a:rPr lang="en-US" altLang="zh-CN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i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＋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1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，既然如此，现在就让第二个人走到</a:t>
            </a:r>
            <a:r>
              <a:rPr lang="en-US" altLang="zh-CN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i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＋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1</a:t>
            </a:r>
          </a:p>
          <a:p>
            <a:pPr algn="l"/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边界是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d(n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－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1,j) = </a:t>
            </a:r>
            <a:r>
              <a:rPr lang="en-US" altLang="zh-CN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dist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(n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－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1,n)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＋</a:t>
            </a:r>
            <a:r>
              <a:rPr lang="en-US" altLang="zh-CN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dist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(</a:t>
            </a:r>
            <a:r>
              <a:rPr lang="en-US" altLang="zh-CN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j,n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)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，其中</a:t>
            </a:r>
            <a:r>
              <a:rPr lang="en-US" altLang="zh-CN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dist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(</a:t>
            </a:r>
            <a:r>
              <a:rPr lang="en-US" altLang="zh-CN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a,b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)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表示点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a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和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b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之间的距离，因为根据定义，所有点都走过了，两个人只需直接走到终点。所求结果是</a:t>
            </a:r>
            <a:r>
              <a:rPr lang="en-US" altLang="zh-CN" b="0" i="0" dirty="0" err="1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dist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(1,2)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＋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d(2,1)</a:t>
            </a:r>
            <a:r>
              <a:rPr lang="zh-CN" altLang="en-US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，因为第一步一定是某个人走到了第二个点，根据定义，这就是</a:t>
            </a:r>
            <a:r>
              <a:rPr lang="en-US" altLang="zh-CN" b="0" i="0" dirty="0">
                <a:solidFill>
                  <a:srgbClr val="314659"/>
                </a:solidFill>
                <a:effectLst/>
                <a:latin typeface="Lato" panose="020F0502020204030203" pitchFamily="34" charset="0"/>
              </a:rPr>
              <a:t>d(2,1)</a:t>
            </a:r>
          </a:p>
        </p:txBody>
      </p:sp>
    </p:spTree>
    <p:extLst>
      <p:ext uri="{BB962C8B-B14F-4D97-AF65-F5344CB8AC3E}">
        <p14:creationId xmlns:p14="http://schemas.microsoft.com/office/powerpoint/2010/main" val="27330689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木材纹理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TM03090434[[fn=木材纹理]]</Template>
  <TotalTime>371</TotalTime>
  <Words>2907</Words>
  <Application>Microsoft Office PowerPoint</Application>
  <PresentationFormat>宽屏</PresentationFormat>
  <Paragraphs>98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Helvetica Neue</vt:lpstr>
      <vt:lpstr>Arial</vt:lpstr>
      <vt:lpstr>Consolas</vt:lpstr>
      <vt:lpstr>Fira Sans</vt:lpstr>
      <vt:lpstr>Lato</vt:lpstr>
      <vt:lpstr>Rockwell</vt:lpstr>
      <vt:lpstr>Rockwell Condensed</vt:lpstr>
      <vt:lpstr>Wingdings</vt:lpstr>
      <vt:lpstr>木材纹理</vt:lpstr>
      <vt:lpstr>Dp原理</vt:lpstr>
      <vt:lpstr>最优子结构</vt:lpstr>
      <vt:lpstr>无后效性</vt:lpstr>
      <vt:lpstr>重复子问题 </vt:lpstr>
      <vt:lpstr>PowerPoint 演示文稿</vt:lpstr>
      <vt:lpstr>PowerPoint 演示文稿</vt:lpstr>
      <vt:lpstr>PowerPoint 演示文稿</vt:lpstr>
      <vt:lpstr>PowerPoint 演示文稿</vt:lpstr>
      <vt:lpstr>DAG模型</vt:lpstr>
      <vt:lpstr>嵌套矩形(不固定起点最长路及其字典序) </vt:lpstr>
      <vt:lpstr>PowerPoint 演示文稿</vt:lpstr>
      <vt:lpstr>PowerPoint 演示文稿</vt:lpstr>
      <vt:lpstr>PowerPoint 演示文稿</vt:lpstr>
      <vt:lpstr>硬币问题(固定终点的最长路和最短路) </vt:lpstr>
      <vt:lpstr>PowerPoint 演示文稿</vt:lpstr>
      <vt:lpstr>PowerPoint 演示文稿</vt:lpstr>
      <vt:lpstr>PowerPoint 演示文稿</vt:lpstr>
      <vt:lpstr>城市里的间谍 A Spy in the Metro - 洛谷 | 计算机科学教育新生态 (luogu.com.cn)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Dp原理</dc:title>
  <dc:creator>stephen livio</dc:creator>
  <cp:lastModifiedBy>stephen livio</cp:lastModifiedBy>
  <cp:revision>17</cp:revision>
  <dcterms:created xsi:type="dcterms:W3CDTF">2023-01-03T01:10:07Z</dcterms:created>
  <dcterms:modified xsi:type="dcterms:W3CDTF">2023-01-04T02:52:11Z</dcterms:modified>
</cp:coreProperties>
</file>